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handoutMasterIdLst>
    <p:handoutMasterId r:id="rId31"/>
  </p:handoutMasterIdLst>
  <p:sldIdLst>
    <p:sldId id="256" r:id="rId2"/>
    <p:sldId id="289" r:id="rId3"/>
    <p:sldId id="290" r:id="rId4"/>
    <p:sldId id="291" r:id="rId5"/>
    <p:sldId id="298" r:id="rId6"/>
    <p:sldId id="297" r:id="rId7"/>
    <p:sldId id="296" r:id="rId8"/>
    <p:sldId id="311" r:id="rId9"/>
    <p:sldId id="292" r:id="rId10"/>
    <p:sldId id="293" r:id="rId11"/>
    <p:sldId id="312" r:id="rId12"/>
    <p:sldId id="313" r:id="rId13"/>
    <p:sldId id="314" r:id="rId14"/>
    <p:sldId id="315" r:id="rId15"/>
    <p:sldId id="294"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288" r:id="rId2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21" autoAdjust="0"/>
    <p:restoredTop sz="95033" autoAdjust="0"/>
  </p:normalViewPr>
  <p:slideViewPr>
    <p:cSldViewPr>
      <p:cViewPr>
        <p:scale>
          <a:sx n="66" d="100"/>
          <a:sy n="66" d="100"/>
        </p:scale>
        <p:origin x="1752" y="413"/>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86D36-BC9F-C8B5-51CF-F7C6103ACA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2136E3-5AF1-50F0-1D74-C73C8CFABC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643F35C-6809-F8B4-5254-543FDCEF49B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138A95-7437-6732-7939-C98BC54E5259}"/>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80877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6581-12D5-4EC0-3C98-56793E9D02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D77B2A-2573-C7C3-E084-C8242AB373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82C0295-E404-32FF-B788-F88A772D6A4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9B0AAE-0F49-C57A-90C1-0283CEAE906A}"/>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767697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85A2F-C1EB-6BED-61A2-84BF1B9D8A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66D1F8-5FF3-D7FA-1A4A-6C119DB445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39783F-90C0-ED81-E652-A2DC8B6FA7D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4E3662E-7273-75B5-5D97-BC879411D77A}"/>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173478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BD405-E3C4-69F7-58B5-2A38D2C80F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732B3F-6DDE-57C1-3093-78F21C0CA7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A20C23-D5B2-DC40-ECE6-A946E8795CB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9FF16DB-1755-1BBB-97BB-E84ADFAB1066}"/>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342242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6B5CC-8375-29F5-6BBC-E82495CDC6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0780A3-A768-F0E1-8D76-7D7BC6B57AD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FBDA854-FF09-9225-7067-55069AC0C2F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C15994C-A667-C4CE-29C4-EBF1292F29F4}"/>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02801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26F41-662C-86D0-FBD2-5BAD851011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AE861F-EBB0-ED3B-461E-E8D172877C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30F86CE-C3F1-2B50-BAA9-3DB3A8A66C8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0A306D9-2E9E-E206-AEA5-6DCE09E36537}"/>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681725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CEB8C-10EE-C2D6-179B-BEED06ADDC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3C2BB3-CF14-7151-57C9-DA1086BA84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2C2016D-93D7-73A8-2A16-117831E3AA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04F4A2F-1E03-A71D-6044-C40990663205}"/>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992970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A98B-6532-B4C4-BD83-1DBBAD81FF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1F9038-3ED2-C0BF-D2A4-BF879DD113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83E37C-9923-D346-FC14-A07203BFCCC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7E1BBD8-C41B-7916-21F6-5157A32BA001}"/>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4271169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351D7-B67E-BAA8-E10D-4CAA8F62E1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174159-14E8-EC99-CEC0-1E30D5111E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9D9FD2-34F4-7E4C-EE55-EE064DD76AF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9B73DE5-517A-947D-63D9-3A369EFB3A86}"/>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172742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71C28-F221-656A-23FC-6041A0D699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C4434E6-26DC-0F0D-1AD0-688711F73D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6B796C-A59A-D70A-C2E0-8BFBA41E0C9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808694A-24B2-250D-20BF-2497E526E36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777512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C78B1-B99C-0EF4-7A6F-A910A13E0C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AD847AB-3626-0488-C08A-289B2940B2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885FFA-D36B-39D5-B2D9-C020C9C12C0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0E9CDD4-8EBB-C14B-1978-7BD6CEADB337}"/>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89430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E8E4-99F4-2A71-E8AB-5D74A3ADDC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858543-87EC-8A30-3565-30084BAA7C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8BABA3-8725-86E5-C58A-7B047D179EC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DAA9714-0B2A-C23B-E0C3-C9CE70C2125E}"/>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105594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50959-8D6F-5C9C-1BA4-AEEE53DE35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01D5F1-9A1E-3894-4724-07AEB10F16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2E2787-F15C-C18A-2A32-D72C43D035D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A43C5F8-43CD-0E8A-B10C-289E60BA5E4E}"/>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3688965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CD407-9228-4FD9-0E98-51D454DF2A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7438FA-57FA-F7DB-5788-50C0611B99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FEF2F3-7839-023D-6370-A9BAD61F16A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6421E18-A5C8-BD55-29AD-7EB225DA810E}"/>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3004186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D1CF-489F-21E6-DBFE-39A4804B79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9B7829-C056-D102-F7DB-CC94FD4EE08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CB66B1-4FC3-ED53-B36E-C46C8199F94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CC15EE8-4289-457A-5A77-1B6C80E9F728}"/>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25630945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F5B01-AEFB-04D6-D72F-32D549BB0A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CF49B1-FF91-AED2-304C-2A1FDE5C7E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978082B-175E-BA8A-C85D-20849F38F8A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D755B46-C2B0-47EF-1EE2-379736A2252C}"/>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2744426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E3141-2231-9030-D86F-790F9C3A939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2E56AB-44B9-DD49-CB3E-14B99C1530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E17A46-62C0-5438-CD60-70FBA5FFA8A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83364DB-0C63-E942-E361-5E6B0581D9F9}"/>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23004942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B698-3282-D65D-EF56-A8FDAC17E6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44AD90-3861-49EB-EA59-D196D11975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BBFB34F-2187-F303-D8D2-FECB37E72BC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F611AEF-EFFA-4091-FB83-DC743CF3AE84}"/>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25128571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6D513-A498-191A-6B3C-57FE33C40A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26C81E6-1632-8B8C-4527-10B5D1659B2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0D4E9B4-3E2C-0DBC-87F6-3FEA820BAD1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F295380-90BC-DC4A-2426-606B1B715C7B}"/>
              </a:ext>
            </a:extLst>
          </p:cNvPr>
          <p:cNvSpPr>
            <a:spLocks noGrp="1"/>
          </p:cNvSpPr>
          <p:nvPr>
            <p:ph type="sldNum" sz="quarter" idx="5"/>
          </p:nvPr>
        </p:nvSpPr>
        <p:spPr/>
        <p:txBody>
          <a:bodyPr/>
          <a:lstStyle/>
          <a:p>
            <a:fld id="{676223B9-C868-4436-87D9-1A3152E1157A}" type="slidenum">
              <a:rPr lang="es-ES" smtClean="0"/>
              <a:t>27</a:t>
            </a:fld>
            <a:endParaRPr lang="es-ES"/>
          </a:p>
        </p:txBody>
      </p:sp>
    </p:spTree>
    <p:extLst>
      <p:ext uri="{BB962C8B-B14F-4D97-AF65-F5344CB8AC3E}">
        <p14:creationId xmlns:p14="http://schemas.microsoft.com/office/powerpoint/2010/main" val="2405858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Ferran Guiñón Tatay y Miguel Pérez Hernández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r>
              <a:rPr lang="es-ES" sz="1200" dirty="0"/>
              <a:t>Un </a:t>
            </a:r>
            <a:r>
              <a:rPr lang="es-ES" sz="1200" i="1" dirty="0"/>
              <a:t>Process </a:t>
            </a:r>
            <a:r>
              <a:rPr lang="es-ES" sz="1200" i="1" dirty="0" err="1"/>
              <a:t>Design</a:t>
            </a:r>
            <a:r>
              <a:rPr lang="es-ES" sz="1200" i="1" dirty="0"/>
              <a:t> Kit</a:t>
            </a:r>
            <a:r>
              <a:rPr lang="es-ES" sz="1200" dirty="0"/>
              <a:t> (PDK) hace referencia a un conjunto de especificaciones, reglas de diseño, capas tecnológicas y dispositivos necesarios para implementar circuitos empleando una tecnología de fabricación determinada.</a:t>
            </a:r>
          </a:p>
          <a:p>
            <a:r>
              <a:rPr lang="es-ES" sz="1200" dirty="0"/>
              <a:t>En el diseño físico (</a:t>
            </a:r>
            <a:r>
              <a:rPr lang="es-ES" sz="1200" i="1" dirty="0" err="1"/>
              <a:t>layout</a:t>
            </a:r>
            <a:r>
              <a:rPr lang="es-ES" sz="1200" dirty="0"/>
              <a:t>), las distintas capas representan los elementos que conforman la estructura del chip, tales como guías de onda ópticas, calentadores térmicos, contactos eléctricos, regiones </a:t>
            </a:r>
            <a:r>
              <a:rPr lang="es-ES" sz="1200" i="1" dirty="0" err="1"/>
              <a:t>slab</a:t>
            </a:r>
            <a:r>
              <a:rPr lang="es-ES" sz="1200" dirty="0"/>
              <a:t>, etiquetas de identificación y el área correspondiente al dado.</a:t>
            </a:r>
          </a:p>
          <a:p>
            <a:r>
              <a:rPr lang="es-ES" sz="1200" dirty="0"/>
              <a:t>El PDK utilizado incorpora diversas capas, cada una destinada a la definición de una funcionalidad específica dentro del circuito. En particular, la capa </a:t>
            </a:r>
            <a:r>
              <a:rPr lang="es-ES" sz="1200" b="1" dirty="0"/>
              <a:t>WG</a:t>
            </a:r>
            <a:r>
              <a:rPr lang="es-ES" sz="1200" dirty="0"/>
              <a:t> se emplea para el trazado de las guías ópticas, </a:t>
            </a:r>
            <a:r>
              <a:rPr lang="es-ES" sz="1200" b="1" dirty="0"/>
              <a:t>HEATER</a:t>
            </a:r>
            <a:r>
              <a:rPr lang="es-ES" sz="1200" dirty="0"/>
              <a:t> para la implementación de los elementos calefactores, </a:t>
            </a:r>
            <a:r>
              <a:rPr lang="es-ES" sz="1200" b="1" dirty="0"/>
              <a:t>SLAB</a:t>
            </a:r>
            <a:r>
              <a:rPr lang="es-ES" sz="1200" dirty="0"/>
              <a:t> para las regiones de tipo </a:t>
            </a:r>
            <a:r>
              <a:rPr lang="es-ES" sz="1200" i="1" dirty="0" err="1"/>
              <a:t>slab</a:t>
            </a:r>
            <a:r>
              <a:rPr lang="es-ES" sz="1200" dirty="0"/>
              <a:t>, </a:t>
            </a:r>
            <a:r>
              <a:rPr lang="es-ES" sz="1200" b="1" dirty="0"/>
              <a:t>PAD</a:t>
            </a:r>
            <a:r>
              <a:rPr lang="es-ES" sz="1200" dirty="0"/>
              <a:t> para los contactos eléctricos, </a:t>
            </a:r>
            <a:r>
              <a:rPr lang="es-ES" sz="1200" b="1" dirty="0"/>
              <a:t>FLOORPLAN</a:t>
            </a:r>
            <a:r>
              <a:rPr lang="es-ES" sz="1200" dirty="0"/>
              <a:t> para delimitar la superficie del chip y las capas </a:t>
            </a:r>
            <a:r>
              <a:rPr lang="es-ES" sz="1200" b="1" dirty="0"/>
              <a:t>LABEL</a:t>
            </a:r>
            <a:r>
              <a:rPr lang="es-ES" sz="1200" dirty="0"/>
              <a:t> para la incorporación de etiquetas que facilitan la identificación de los distintos componentes presentes en el </a:t>
            </a:r>
            <a:r>
              <a:rPr lang="es-ES" sz="1200" i="1" dirty="0" err="1"/>
              <a:t>layout</a:t>
            </a:r>
            <a:r>
              <a:rPr lang="es-ES" sz="1200" dirty="0"/>
              <a:t>.</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960511" y="2494306"/>
            <a:ext cx="3590598" cy="1477328"/>
          </a:xfrm>
          <a:prstGeom prst="rect">
            <a:avLst/>
          </a:prstGeom>
          <a:noFill/>
        </p:spPr>
        <p:txBody>
          <a:bodyPr wrap="none" rtlCol="0">
            <a:spAutoFit/>
          </a:bodyPr>
          <a:lstStyle/>
          <a:p>
            <a:r>
              <a:rPr lang="es-ES" dirty="0"/>
              <a:t>LAYER_VIEWS = </a:t>
            </a:r>
            <a:r>
              <a:rPr lang="es-ES" dirty="0" err="1"/>
              <a:t>PDK.layer_views</a:t>
            </a:r>
            <a:endParaRPr lang="es-ES" dirty="0"/>
          </a:p>
          <a:p>
            <a:r>
              <a:rPr lang="es-ES" dirty="0"/>
              <a:t>c = </a:t>
            </a:r>
            <a:r>
              <a:rPr lang="es-ES" dirty="0" err="1"/>
              <a:t>LAYER_VIEWS.preview_layerset</a:t>
            </a:r>
            <a:r>
              <a:rPr lang="es-ES" dirty="0"/>
              <a:t>()</a:t>
            </a:r>
          </a:p>
          <a:p>
            <a:r>
              <a:rPr lang="es-ES" dirty="0" err="1"/>
              <a:t>c.show</a:t>
            </a:r>
            <a:r>
              <a:rPr lang="es-ES" dirty="0"/>
              <a:t>()</a:t>
            </a:r>
          </a:p>
          <a:p>
            <a:r>
              <a:rPr lang="es-ES" dirty="0" err="1"/>
              <a:t>c.plot</a:t>
            </a:r>
            <a:r>
              <a:rPr lang="es-ES" dirty="0"/>
              <a:t>()</a:t>
            </a:r>
          </a:p>
          <a:p>
            <a:pPr algn="ctr"/>
            <a:endParaRPr lang="en-US" dirty="0"/>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7925522" y="2496339"/>
            <a:ext cx="2435218" cy="369332"/>
          </a:xfrm>
          <a:prstGeom prst="rect">
            <a:avLst/>
          </a:prstGeom>
          <a:noFill/>
        </p:spPr>
        <p:txBody>
          <a:bodyPr wrap="none" rtlCol="0">
            <a:spAutoFit/>
          </a:bodyPr>
          <a:lstStyle/>
          <a:p>
            <a:pPr algn="ctr"/>
            <a:r>
              <a:rPr lang="es-ES" dirty="0"/>
              <a:t>Paste </a:t>
            </a:r>
            <a:r>
              <a:rPr lang="es-ES" dirty="0" err="1"/>
              <a:t>plot</a:t>
            </a:r>
            <a:r>
              <a:rPr lang="es-ES" dirty="0"/>
              <a:t> </a:t>
            </a:r>
            <a:r>
              <a:rPr lang="es-ES" dirty="0" err="1"/>
              <a:t>of</a:t>
            </a:r>
            <a:r>
              <a:rPr lang="es-ES" dirty="0"/>
              <a:t> </a:t>
            </a:r>
            <a:r>
              <a:rPr lang="es-ES" dirty="0" err="1"/>
              <a:t>layers</a:t>
            </a:r>
            <a:r>
              <a:rPr lang="es-ES" dirty="0"/>
              <a:t> </a:t>
            </a:r>
            <a:r>
              <a:rPr lang="es-ES" dirty="0" err="1"/>
              <a:t>here</a:t>
            </a:r>
            <a:endParaRPr lang="en-US" dirty="0"/>
          </a:p>
        </p:txBody>
      </p:sp>
      <p:pic>
        <p:nvPicPr>
          <p:cNvPr id="11" name="Imagen 10">
            <a:extLst>
              <a:ext uri="{FF2B5EF4-FFF2-40B4-BE49-F238E27FC236}">
                <a16:creationId xmlns:a16="http://schemas.microsoft.com/office/drawing/2014/main" id="{C7B6FB90-0856-6355-E018-5CA1A2798BA8}"/>
              </a:ext>
            </a:extLst>
          </p:cNvPr>
          <p:cNvPicPr>
            <a:picLocks noChangeAspect="1"/>
          </p:cNvPicPr>
          <p:nvPr/>
        </p:nvPicPr>
        <p:blipFill>
          <a:blip r:embed="rId4"/>
          <a:stretch>
            <a:fillRect/>
          </a:stretch>
        </p:blipFill>
        <p:spPr>
          <a:xfrm>
            <a:off x="6942575" y="1445187"/>
            <a:ext cx="4512006" cy="3425866"/>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609441" y="4860334"/>
            <a:ext cx="11199971" cy="954107"/>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El componente corresponde a un acoplador direccional desarrollado durante el Laboratorio 2. Se trata de una estructura óptica 2×2 compuesta por dos guías de onda dispuestas en paralelo, cuya interacción permite el intercambio de potencia óptica entre ellas. Sus parámetros geométricos principales son una anchura de guía de 1,2 µm, una longitud de acoplamiento de 18,5 µm y una separación entre guías de 0,6 µm. El diseño se ha implementado utilizando la capa </a:t>
            </a:r>
            <a:r>
              <a:rPr lang="es-ES" sz="1400" b="1" dirty="0"/>
              <a:t>WG</a:t>
            </a:r>
            <a:r>
              <a:rPr lang="es-ES" sz="1400" dirty="0"/>
              <a:t> proporcionada por la PDK </a:t>
            </a:r>
            <a:r>
              <a:rPr lang="es-ES" sz="1400" b="1" dirty="0" err="1"/>
              <a:t>UPVfab</a:t>
            </a:r>
            <a:r>
              <a:rPr lang="es-ES" sz="1400" dirty="0"/>
              <a:t>.</a:t>
            </a:r>
            <a:endParaRPr lang="en-US" sz="14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6224819-75AC-EB82-A160-7A3DE5BF0740}"/>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8C1E968B-0AE0-37CB-7468-A50896329E7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9877566-4E2F-8CE5-3749-EB4B91552614}"/>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4BE563D5-FCEF-BDBF-6027-ECE4B1925B22}"/>
              </a:ext>
            </a:extLst>
          </p:cNvPr>
          <p:cNvPicPr>
            <a:picLocks noChangeAspect="1"/>
          </p:cNvPicPr>
          <p:nvPr/>
        </p:nvPicPr>
        <p:blipFill>
          <a:blip r:embed="rId4"/>
          <a:stretch>
            <a:fillRect/>
          </a:stretch>
        </p:blipFill>
        <p:spPr>
          <a:xfrm>
            <a:off x="1207962" y="1243724"/>
            <a:ext cx="4005943" cy="3548644"/>
          </a:xfrm>
          <a:prstGeom prst="rect">
            <a:avLst/>
          </a:prstGeom>
        </p:spPr>
      </p:pic>
      <p:pic>
        <p:nvPicPr>
          <p:cNvPr id="11" name="Imagen 10">
            <a:extLst>
              <a:ext uri="{FF2B5EF4-FFF2-40B4-BE49-F238E27FC236}">
                <a16:creationId xmlns:a16="http://schemas.microsoft.com/office/drawing/2014/main" id="{444F1BFE-F97F-6320-8606-FF25DFB575F5}"/>
              </a:ext>
            </a:extLst>
          </p:cNvPr>
          <p:cNvPicPr>
            <a:picLocks noChangeAspect="1"/>
          </p:cNvPicPr>
          <p:nvPr/>
        </p:nvPicPr>
        <p:blipFill>
          <a:blip r:embed="rId5"/>
          <a:stretch>
            <a:fillRect/>
          </a:stretch>
        </p:blipFill>
        <p:spPr>
          <a:xfrm>
            <a:off x="6446361" y="2133600"/>
            <a:ext cx="5437255" cy="2101287"/>
          </a:xfrm>
          <a:prstGeom prst="rect">
            <a:avLst/>
          </a:prstGeom>
        </p:spPr>
      </p:pic>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44EB2-A962-3A63-822A-560597EA591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F231870-1123-4B49-AB92-B20A9F948182}"/>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8B57BFA6-3DB5-DCB2-59E9-69DFF0A4D7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301689F-1E26-8672-A149-CD406A1AABE3}"/>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6C9E944D-612A-BB8A-2306-853E2845380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0417A04E-C80C-6E14-BB79-9621D0F036D9}"/>
              </a:ext>
            </a:extLst>
          </p:cNvPr>
          <p:cNvSpPr txBox="1"/>
          <p:nvPr/>
        </p:nvSpPr>
        <p:spPr>
          <a:xfrm>
            <a:off x="609441" y="4860334"/>
            <a:ext cx="11199971" cy="73866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El resonador en anillo diseñado en el Laboratorio 3 se ha implementado con la PDK </a:t>
            </a:r>
            <a:r>
              <a:rPr lang="es-ES" sz="1400" b="1" dirty="0" err="1"/>
              <a:t>UPVfab</a:t>
            </a:r>
            <a:r>
              <a:rPr lang="es-ES" sz="1400" dirty="0"/>
              <a:t> sobre la capa </a:t>
            </a:r>
            <a:r>
              <a:rPr lang="es-ES" sz="1400" b="1" dirty="0"/>
              <a:t>WG</a:t>
            </a:r>
            <a:r>
              <a:rPr lang="es-ES" sz="1400" dirty="0"/>
              <a:t>, utilizando una guía de onda tipo </a:t>
            </a:r>
            <a:r>
              <a:rPr lang="es-ES" sz="1400" i="1" dirty="0" err="1"/>
              <a:t>strip</a:t>
            </a:r>
            <a:r>
              <a:rPr lang="es-ES" sz="1400" dirty="0"/>
              <a:t> de 1,2 µm de anchura. El anillo presenta un radio de 20 µm y se acopla a una guía recta mediante un </a:t>
            </a:r>
            <a:r>
              <a:rPr lang="es-ES" sz="1400" i="1" dirty="0"/>
              <a:t>gap</a:t>
            </a:r>
            <a:r>
              <a:rPr lang="es-ES" sz="1400" dirty="0"/>
              <a:t> de 0,3 µm. El dispositivo incluye los puertos necesarios para su posterior interconexión dentro del </a:t>
            </a:r>
            <a:r>
              <a:rPr lang="es-ES" sz="1400" i="1" dirty="0" err="1"/>
              <a:t>layout</a:t>
            </a:r>
            <a:r>
              <a:rPr lang="es-ES" sz="1400" dirty="0"/>
              <a:t> global.</a:t>
            </a:r>
            <a:endParaRPr lang="en-US" sz="14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A666BA81-FFC4-EABD-80C0-4296AC566F49}"/>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CF2C2088-C956-03E5-D054-71C9FF1133F3}"/>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4F389C51-4AC9-CE65-E72D-511C17A8CD95}"/>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C05A9A70-8D70-8F80-956C-FC265FDB70D1}"/>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E22FBD9D-7168-48AD-0247-E3432E6F9874}"/>
              </a:ext>
            </a:extLst>
          </p:cNvPr>
          <p:cNvPicPr>
            <a:picLocks noChangeAspect="1"/>
          </p:cNvPicPr>
          <p:nvPr/>
        </p:nvPicPr>
        <p:blipFill>
          <a:blip r:embed="rId4"/>
          <a:stretch>
            <a:fillRect/>
          </a:stretch>
        </p:blipFill>
        <p:spPr>
          <a:xfrm>
            <a:off x="1862643" y="1017134"/>
            <a:ext cx="2915716" cy="3737747"/>
          </a:xfrm>
          <a:prstGeom prst="rect">
            <a:avLst/>
          </a:prstGeom>
        </p:spPr>
      </p:pic>
      <p:pic>
        <p:nvPicPr>
          <p:cNvPr id="11" name="Imagen 10">
            <a:extLst>
              <a:ext uri="{FF2B5EF4-FFF2-40B4-BE49-F238E27FC236}">
                <a16:creationId xmlns:a16="http://schemas.microsoft.com/office/drawing/2014/main" id="{E4D33DEA-A093-81AC-9866-794039F3B50C}"/>
              </a:ext>
            </a:extLst>
          </p:cNvPr>
          <p:cNvPicPr>
            <a:picLocks noChangeAspect="1"/>
          </p:cNvPicPr>
          <p:nvPr/>
        </p:nvPicPr>
        <p:blipFill>
          <a:blip r:embed="rId5"/>
          <a:stretch>
            <a:fillRect/>
          </a:stretch>
        </p:blipFill>
        <p:spPr>
          <a:xfrm>
            <a:off x="7330440" y="1503889"/>
            <a:ext cx="3962400" cy="3016086"/>
          </a:xfrm>
          <a:prstGeom prst="rect">
            <a:avLst/>
          </a:prstGeom>
        </p:spPr>
      </p:pic>
    </p:spTree>
    <p:extLst>
      <p:ext uri="{BB962C8B-B14F-4D97-AF65-F5344CB8AC3E}">
        <p14:creationId xmlns:p14="http://schemas.microsoft.com/office/powerpoint/2010/main" val="1454885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A94FA-8990-9525-680C-41B42C2539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37D9EAB-6082-0A90-254A-9A49996FA11E}"/>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54625275-6475-220A-1B77-1C3A47B60A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1D39839-1052-C9DA-DE2D-50637F8E5D0F}"/>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73CD35FC-7BFF-5554-4495-D5E73119067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90AF5BA-3540-E60F-67A2-396CC2B094BF}"/>
              </a:ext>
            </a:extLst>
          </p:cNvPr>
          <p:cNvSpPr txBox="1"/>
          <p:nvPr/>
        </p:nvSpPr>
        <p:spPr>
          <a:xfrm>
            <a:off x="609441" y="4860334"/>
            <a:ext cx="11199971" cy="1169551"/>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El componente corresponde a un interferómetro de Mach-Zehnder (MZI) 2×2 construido a partir de dos acopladores ópticos 2×2 conectados mediante guías de onda. En esta implementación se ha optado por una configuración balanceada, estableciendo un valor de diferencia de longitud entre brazos (</a:t>
            </a:r>
            <a:r>
              <a:rPr lang="es-ES" sz="1400" i="1" dirty="0" err="1"/>
              <a:t>delta_length</a:t>
            </a:r>
            <a:r>
              <a:rPr lang="es-ES" sz="1400" dirty="0"/>
              <a:t>) igual a 0 µm. Como consecuencia, ambos recorridos ópticos presentan la misma longitud, garantizando condiciones simétricas de propagación. El dispositivo conserva los puertos ópticos característicos del MZI y se encuentra encapsulado como una celda reutilizable, lo que facilita su integración como bloque funcional dentro del </a:t>
            </a:r>
            <a:r>
              <a:rPr lang="es-ES" sz="1400" i="1" dirty="0" err="1"/>
              <a:t>layout</a:t>
            </a:r>
            <a:r>
              <a:rPr lang="es-ES" sz="1400" dirty="0"/>
              <a:t> fotónico.</a:t>
            </a:r>
            <a:endParaRPr lang="en-US" sz="14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F513E04-E162-66A1-03AD-6D11457AAE62}"/>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BBEB526-0C48-BB84-79FC-1DFFBB0760A5}"/>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28A596C9-D824-B713-2709-00EC4C36BE7B}"/>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C94CB2A-119B-824D-8F86-6BA112129998}"/>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4FBCD30B-1BC8-282A-8C1E-87185F50C40D}"/>
              </a:ext>
            </a:extLst>
          </p:cNvPr>
          <p:cNvPicPr>
            <a:picLocks noChangeAspect="1"/>
          </p:cNvPicPr>
          <p:nvPr/>
        </p:nvPicPr>
        <p:blipFill>
          <a:blip r:embed="rId4"/>
          <a:stretch>
            <a:fillRect/>
          </a:stretch>
        </p:blipFill>
        <p:spPr>
          <a:xfrm>
            <a:off x="609441" y="668848"/>
            <a:ext cx="2435807" cy="4191486"/>
          </a:xfrm>
          <a:prstGeom prst="rect">
            <a:avLst/>
          </a:prstGeom>
        </p:spPr>
      </p:pic>
      <p:pic>
        <p:nvPicPr>
          <p:cNvPr id="11" name="Imagen 10">
            <a:extLst>
              <a:ext uri="{FF2B5EF4-FFF2-40B4-BE49-F238E27FC236}">
                <a16:creationId xmlns:a16="http://schemas.microsoft.com/office/drawing/2014/main" id="{45999AB6-F7FE-D967-BE5C-81E25D0227CA}"/>
              </a:ext>
            </a:extLst>
          </p:cNvPr>
          <p:cNvPicPr>
            <a:picLocks noChangeAspect="1"/>
          </p:cNvPicPr>
          <p:nvPr/>
        </p:nvPicPr>
        <p:blipFill>
          <a:blip r:embed="rId5"/>
          <a:stretch>
            <a:fillRect/>
          </a:stretch>
        </p:blipFill>
        <p:spPr>
          <a:xfrm>
            <a:off x="3102875" y="138769"/>
            <a:ext cx="2145371" cy="4795855"/>
          </a:xfrm>
          <a:prstGeom prst="rect">
            <a:avLst/>
          </a:prstGeom>
        </p:spPr>
      </p:pic>
      <p:pic>
        <p:nvPicPr>
          <p:cNvPr id="13" name="Imagen 12">
            <a:extLst>
              <a:ext uri="{FF2B5EF4-FFF2-40B4-BE49-F238E27FC236}">
                <a16:creationId xmlns:a16="http://schemas.microsoft.com/office/drawing/2014/main" id="{C8BB2F39-2E71-48FE-5EEF-83D36BADFECE}"/>
              </a:ext>
            </a:extLst>
          </p:cNvPr>
          <p:cNvPicPr>
            <a:picLocks noChangeAspect="1"/>
          </p:cNvPicPr>
          <p:nvPr/>
        </p:nvPicPr>
        <p:blipFill>
          <a:blip r:embed="rId6"/>
          <a:stretch>
            <a:fillRect/>
          </a:stretch>
        </p:blipFill>
        <p:spPr>
          <a:xfrm>
            <a:off x="6725195" y="2390272"/>
            <a:ext cx="4865598" cy="950797"/>
          </a:xfrm>
          <a:prstGeom prst="rect">
            <a:avLst/>
          </a:prstGeom>
        </p:spPr>
      </p:pic>
    </p:spTree>
    <p:extLst>
      <p:ext uri="{BB962C8B-B14F-4D97-AF65-F5344CB8AC3E}">
        <p14:creationId xmlns:p14="http://schemas.microsoft.com/office/powerpoint/2010/main" val="944593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89E26-923B-7138-CF19-A0D946E2F5A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2BFA1E1-7F85-6AB6-FB7D-0A276EB463E8}"/>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1F11205A-12CE-9D1F-7744-EEA0589E9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B89951B-AB5C-F0BD-FDE9-81C3DD5AAA5E}"/>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F71B6EF7-4552-E2C9-ADAE-712F630AB26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816E3029-31C1-33DB-2A8C-BAA7DFF863CB}"/>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1F276682-1DD0-6D1F-FD9A-348A3B66B5CA}"/>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39B4ABAE-519A-6DD9-503C-F1F476128095}"/>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1277F687-E338-5DB7-D56A-4E0D1C1B67EE}"/>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B9C00C2A-AA23-AE57-D4BF-0A54077FA4A7}"/>
              </a:ext>
            </a:extLst>
          </p:cNvPr>
          <p:cNvPicPr>
            <a:picLocks noChangeAspect="1"/>
          </p:cNvPicPr>
          <p:nvPr/>
        </p:nvPicPr>
        <p:blipFill>
          <a:blip r:embed="rId4"/>
          <a:stretch>
            <a:fillRect/>
          </a:stretch>
        </p:blipFill>
        <p:spPr>
          <a:xfrm>
            <a:off x="55388" y="762000"/>
            <a:ext cx="3327892" cy="5051053"/>
          </a:xfrm>
          <a:prstGeom prst="rect">
            <a:avLst/>
          </a:prstGeom>
        </p:spPr>
      </p:pic>
      <p:pic>
        <p:nvPicPr>
          <p:cNvPr id="11" name="Imagen 10">
            <a:extLst>
              <a:ext uri="{FF2B5EF4-FFF2-40B4-BE49-F238E27FC236}">
                <a16:creationId xmlns:a16="http://schemas.microsoft.com/office/drawing/2014/main" id="{7E7A9E72-5BE2-30CB-7D91-F391D76F36D1}"/>
              </a:ext>
            </a:extLst>
          </p:cNvPr>
          <p:cNvPicPr>
            <a:picLocks noChangeAspect="1"/>
          </p:cNvPicPr>
          <p:nvPr/>
        </p:nvPicPr>
        <p:blipFill>
          <a:blip r:embed="rId5"/>
          <a:stretch>
            <a:fillRect/>
          </a:stretch>
        </p:blipFill>
        <p:spPr>
          <a:xfrm>
            <a:off x="3383279" y="770538"/>
            <a:ext cx="2981441" cy="5051053"/>
          </a:xfrm>
          <a:prstGeom prst="rect">
            <a:avLst/>
          </a:prstGeom>
        </p:spPr>
      </p:pic>
      <p:pic>
        <p:nvPicPr>
          <p:cNvPr id="13" name="Imagen 12">
            <a:extLst>
              <a:ext uri="{FF2B5EF4-FFF2-40B4-BE49-F238E27FC236}">
                <a16:creationId xmlns:a16="http://schemas.microsoft.com/office/drawing/2014/main" id="{235ED134-A6C8-28B2-0337-10CFFA61777C}"/>
              </a:ext>
            </a:extLst>
          </p:cNvPr>
          <p:cNvPicPr>
            <a:picLocks noChangeAspect="1"/>
          </p:cNvPicPr>
          <p:nvPr/>
        </p:nvPicPr>
        <p:blipFill>
          <a:blip r:embed="rId6"/>
          <a:stretch>
            <a:fillRect/>
          </a:stretch>
        </p:blipFill>
        <p:spPr>
          <a:xfrm>
            <a:off x="6364720" y="762000"/>
            <a:ext cx="3427348" cy="5081474"/>
          </a:xfrm>
          <a:prstGeom prst="rect">
            <a:avLst/>
          </a:prstGeom>
        </p:spPr>
      </p:pic>
      <p:pic>
        <p:nvPicPr>
          <p:cNvPr id="15" name="Imagen 14">
            <a:extLst>
              <a:ext uri="{FF2B5EF4-FFF2-40B4-BE49-F238E27FC236}">
                <a16:creationId xmlns:a16="http://schemas.microsoft.com/office/drawing/2014/main" id="{A2617257-6570-B9B7-0141-EBAB2C064F60}"/>
              </a:ext>
            </a:extLst>
          </p:cNvPr>
          <p:cNvPicPr>
            <a:picLocks noChangeAspect="1"/>
          </p:cNvPicPr>
          <p:nvPr/>
        </p:nvPicPr>
        <p:blipFill>
          <a:blip r:embed="rId7"/>
          <a:stretch>
            <a:fillRect/>
          </a:stretch>
        </p:blipFill>
        <p:spPr>
          <a:xfrm>
            <a:off x="8265033" y="2681636"/>
            <a:ext cx="3741495" cy="918001"/>
          </a:xfrm>
          <a:prstGeom prst="rect">
            <a:avLst/>
          </a:prstGeom>
        </p:spPr>
      </p:pic>
    </p:spTree>
    <p:extLst>
      <p:ext uri="{BB962C8B-B14F-4D97-AF65-F5344CB8AC3E}">
        <p14:creationId xmlns:p14="http://schemas.microsoft.com/office/powerpoint/2010/main" val="2800137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787BB-9284-F3AB-C81B-41A1A6446CE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731D397-B2A5-9B4E-5973-79DE64BE2466}"/>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D8AA44C7-CA94-1015-E431-88EFD3D2E2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0919059-6886-8278-D84B-B5CD7D667722}"/>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EF6BFAF-A791-4FB2-A26A-79904F4D735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AB0DC2E-8DF6-A99D-2BE4-CADDB0FA459E}"/>
              </a:ext>
            </a:extLst>
          </p:cNvPr>
          <p:cNvSpPr txBox="1"/>
          <p:nvPr/>
        </p:nvSpPr>
        <p:spPr>
          <a:xfrm>
            <a:off x="662940" y="1752600"/>
            <a:ext cx="11199971" cy="3108543"/>
          </a:xfrm>
          <a:prstGeom prst="rect">
            <a:avLst/>
          </a:prstGeom>
          <a:solidFill>
            <a:schemeClr val="bg1">
              <a:lumMod val="95000"/>
            </a:schemeClr>
          </a:solidFill>
          <a:ln w="28575">
            <a:solidFill>
              <a:srgbClr val="E0700D"/>
            </a:solidFill>
          </a:ln>
        </p:spPr>
        <p:txBody>
          <a:bodyPr wrap="square" rtlCol="0">
            <a:spAutoFit/>
          </a:bodyPr>
          <a:lstStyle/>
          <a:p>
            <a:r>
              <a:rPr lang="es-ES" sz="1400" dirty="0"/>
              <a:t>El dispositivo diseñado corresponde a un divisor multimodo 1×4 (MMI 1×4) implementado utilizando guías de onda de silicio con una anchura de 0,5 µm. La estructura está formada por una guía de entrada de 1 µm de longitud, seguida de un </a:t>
            </a:r>
            <a:r>
              <a:rPr lang="es-ES" sz="1400" dirty="0" err="1"/>
              <a:t>taper</a:t>
            </a:r>
            <a:r>
              <a:rPr lang="es-ES" sz="1400" dirty="0"/>
              <a:t> lineal de 20 µm que expande progresivamente la anchura desde 0,5 µm hasta 12 µm para mejorar el acoplamiento hacia la región multimodo. La región MMI presenta una anchura de 12 µm y una longitud de 40 µm, donde se produce la autoimagen óptica responsable de la división de potencia.</a:t>
            </a:r>
          </a:p>
          <a:p>
            <a:endParaRPr lang="es-ES" sz="1400" dirty="0"/>
          </a:p>
          <a:p>
            <a:r>
              <a:rPr lang="es-ES" sz="1400" dirty="0"/>
              <a:t>En la salida de la región multimodo se generan cuatro imágenes ópticas localizadas en las posiciones transversales ±1,5 µm y ±4,5 µm respecto al eje central. Estas salidas se conectan mediante curvas tipo S-Bend de 80 µm de longitud que redistribuyen gradualmente los canales ópticos hasta las posiciones finales ±5 µm y ±15 µm, minimizando las pérdidas por radiación y las reflexiones. Finalmente, cada rama incorpora una guía recta de salida de 1 µm de longitud.</a:t>
            </a:r>
          </a:p>
          <a:p>
            <a:endParaRPr lang="es-ES" sz="1400" dirty="0"/>
          </a:p>
          <a:p>
            <a:r>
              <a:rPr lang="es-ES" sz="1400" dirty="0"/>
              <a:t>El componente dispone de cinco puertos ópticos: un puerto de entrada (o1) y cuatro puertos de salida (o2, o3, o4 y o5), permitiendo la distribución de la señal óptica incidente en cuatro canales independientes. El </a:t>
            </a:r>
            <a:r>
              <a:rPr lang="es-ES" sz="1400" dirty="0" err="1"/>
              <a:t>layout</a:t>
            </a:r>
            <a:r>
              <a:rPr lang="es-ES" sz="1400" dirty="0"/>
              <a:t> se ha construido mediante la instanciación de elementos básicos de </a:t>
            </a:r>
            <a:r>
              <a:rPr lang="es-ES" sz="1400" dirty="0" err="1"/>
              <a:t>GDSFactory</a:t>
            </a:r>
            <a:r>
              <a:rPr lang="es-ES" sz="1400" dirty="0"/>
              <a:t>, incluyendo guías rectas, transiciones adiabáticas (</a:t>
            </a:r>
            <a:r>
              <a:rPr lang="es-ES" sz="1400" dirty="0" err="1"/>
              <a:t>tapers</a:t>
            </a:r>
            <a:r>
              <a:rPr lang="es-ES" sz="1400" dirty="0"/>
              <a:t>) y curvas S-Bend, siguiendo la metodología de diseño jerárquico utilizada en los laboratorios previos.</a:t>
            </a:r>
          </a:p>
        </p:txBody>
      </p:sp>
    </p:spTree>
    <p:extLst>
      <p:ext uri="{BB962C8B-B14F-4D97-AF65-F5344CB8AC3E}">
        <p14:creationId xmlns:p14="http://schemas.microsoft.com/office/powerpoint/2010/main" val="212652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600" dirty="0"/>
              <a:t>Una </a:t>
            </a:r>
            <a:r>
              <a:rPr lang="es-ES" sz="1600" i="1" dirty="0"/>
              <a:t>Cell</a:t>
            </a:r>
            <a:r>
              <a:rPr lang="es-ES" sz="1600" dirty="0"/>
              <a:t> es un elemento reutilizable que facilita la construcción de diseños jerárquicos sin necesidad de replicar geometría en el GDS. En este caso se define la celda </a:t>
            </a:r>
            <a:r>
              <a:rPr lang="es-ES" sz="1600" i="1" dirty="0"/>
              <a:t>die</a:t>
            </a:r>
            <a:r>
              <a:rPr lang="es-ES" sz="1600" dirty="0"/>
              <a:t>, que representa el área del chip mediante un rectángulo en la capa </a:t>
            </a:r>
            <a:r>
              <a:rPr lang="es-ES" sz="1600" b="1" dirty="0"/>
              <a:t>FLOORPLAN</a:t>
            </a:r>
            <a:r>
              <a:rPr lang="es-ES" sz="1600" dirty="0"/>
              <a:t>, incluyendo un margen interno y un puerto de referencia para su integración en el </a:t>
            </a:r>
            <a:r>
              <a:rPr lang="es-ES" sz="1600" i="1" dirty="0" err="1"/>
              <a:t>layout</a:t>
            </a:r>
            <a:r>
              <a:rPr lang="es-ES" sz="1600" dirty="0"/>
              <a:t>.</a:t>
            </a:r>
            <a:endParaRPr lang="en-US" sz="16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44A1ED-9D94-1354-DB46-756E574E2C7E}"/>
              </a:ext>
            </a:extLst>
          </p:cNvPr>
          <p:cNvSpPr txBox="1"/>
          <p:nvPr/>
        </p:nvSpPr>
        <p:spPr>
          <a:xfrm>
            <a:off x="8483018" y="2496339"/>
            <a:ext cx="1320234" cy="646331"/>
          </a:xfrm>
          <a:prstGeom prst="rect">
            <a:avLst/>
          </a:prstGeom>
          <a:noFill/>
        </p:spPr>
        <p:txBody>
          <a:bodyPr wrap="none" rtlCol="0">
            <a:spAutoFit/>
          </a:bodyPr>
          <a:lstStyle/>
          <a:p>
            <a:pPr algn="ctr"/>
            <a:r>
              <a:rPr lang="es-ES" dirty="0" err="1"/>
              <a:t>Example</a:t>
            </a:r>
            <a:r>
              <a:rPr lang="es-ES" dirty="0"/>
              <a:t> die</a:t>
            </a:r>
          </a:p>
          <a:p>
            <a:pPr algn="ct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A12057F7-2B02-7653-DB27-627550157F4A}"/>
              </a:ext>
            </a:extLst>
          </p:cNvPr>
          <p:cNvPicPr>
            <a:picLocks noChangeAspect="1"/>
          </p:cNvPicPr>
          <p:nvPr/>
        </p:nvPicPr>
        <p:blipFill>
          <a:blip r:embed="rId4"/>
          <a:stretch>
            <a:fillRect/>
          </a:stretch>
        </p:blipFill>
        <p:spPr>
          <a:xfrm>
            <a:off x="-25421" y="1398044"/>
            <a:ext cx="6756441" cy="3187933"/>
          </a:xfrm>
          <a:prstGeom prst="rect">
            <a:avLst/>
          </a:prstGeom>
        </p:spPr>
      </p:pic>
      <p:pic>
        <p:nvPicPr>
          <p:cNvPr id="11" name="Imagen 10">
            <a:extLst>
              <a:ext uri="{FF2B5EF4-FFF2-40B4-BE49-F238E27FC236}">
                <a16:creationId xmlns:a16="http://schemas.microsoft.com/office/drawing/2014/main" id="{239BD7EC-8282-5011-159D-6D5EDA920ECC}"/>
              </a:ext>
            </a:extLst>
          </p:cNvPr>
          <p:cNvPicPr>
            <a:picLocks noChangeAspect="1"/>
          </p:cNvPicPr>
          <p:nvPr/>
        </p:nvPicPr>
        <p:blipFill>
          <a:blip r:embed="rId5"/>
          <a:stretch>
            <a:fillRect/>
          </a:stretch>
        </p:blipFill>
        <p:spPr>
          <a:xfrm>
            <a:off x="6668074" y="991134"/>
            <a:ext cx="5204285" cy="3885666"/>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D8C2352E-973A-F389-F6A1-D644E07F2E7E}"/>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792D8CBF-451B-83CB-7D64-3CD9C64B8333}"/>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BAAAC818-8C43-CF5D-4DB7-21D1E6A0DEE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E0254F2-3F36-2B82-F469-33464298D91B}"/>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D4336EE9-0807-8E9E-5F9E-FE3C1371B64F}"/>
              </a:ext>
            </a:extLst>
          </p:cNvPr>
          <p:cNvPicPr>
            <a:picLocks noChangeAspect="1"/>
          </p:cNvPicPr>
          <p:nvPr/>
        </p:nvPicPr>
        <p:blipFill>
          <a:blip r:embed="rId4"/>
          <a:stretch>
            <a:fillRect/>
          </a:stretch>
        </p:blipFill>
        <p:spPr>
          <a:xfrm>
            <a:off x="548816" y="627252"/>
            <a:ext cx="4496190" cy="5829805"/>
          </a:xfrm>
          <a:prstGeom prst="rect">
            <a:avLst/>
          </a:prstGeom>
        </p:spPr>
      </p:pic>
      <p:pic>
        <p:nvPicPr>
          <p:cNvPr id="10" name="Imagen 9">
            <a:extLst>
              <a:ext uri="{FF2B5EF4-FFF2-40B4-BE49-F238E27FC236}">
                <a16:creationId xmlns:a16="http://schemas.microsoft.com/office/drawing/2014/main" id="{8DB7B8F9-F177-0125-2CE9-3AA8C2161464}"/>
              </a:ext>
            </a:extLst>
          </p:cNvPr>
          <p:cNvPicPr>
            <a:picLocks noChangeAspect="1"/>
          </p:cNvPicPr>
          <p:nvPr/>
        </p:nvPicPr>
        <p:blipFill>
          <a:blip r:embed="rId5"/>
          <a:stretch>
            <a:fillRect/>
          </a:stretch>
        </p:blipFill>
        <p:spPr>
          <a:xfrm>
            <a:off x="6767875" y="1886023"/>
            <a:ext cx="4686706" cy="3520745"/>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1681F-09D5-1AED-A051-90FD84AD6DF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7053523-B9C3-16D0-42D9-2D15E1FDA1D4}"/>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C00BCAB6-779E-9135-AA42-272D02926E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8197F0-96B1-F2CE-53E0-DF02B7CD03FF}"/>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D27C0D33-81E6-20E5-5F6F-3DE3D12D2473}"/>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34C44CAC-CEE3-1230-881C-01958A97F193}"/>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70C70E7-DD66-9AE2-5621-2A470711943C}"/>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9D3BB8CA-A804-9EFA-06A4-7411F41EFAFB}"/>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F5338E3D-86BA-DBF3-12AF-A0D712B2808B}"/>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19A3473A-822C-BD3E-4490-0B066B22ABDD}"/>
              </a:ext>
            </a:extLst>
          </p:cNvPr>
          <p:cNvPicPr>
            <a:picLocks noChangeAspect="1"/>
          </p:cNvPicPr>
          <p:nvPr/>
        </p:nvPicPr>
        <p:blipFill>
          <a:blip r:embed="rId4"/>
          <a:stretch>
            <a:fillRect/>
          </a:stretch>
        </p:blipFill>
        <p:spPr>
          <a:xfrm>
            <a:off x="609441" y="737079"/>
            <a:ext cx="4692205" cy="5904644"/>
          </a:xfrm>
          <a:prstGeom prst="rect">
            <a:avLst/>
          </a:prstGeom>
        </p:spPr>
      </p:pic>
      <p:pic>
        <p:nvPicPr>
          <p:cNvPr id="12" name="Imagen 11">
            <a:extLst>
              <a:ext uri="{FF2B5EF4-FFF2-40B4-BE49-F238E27FC236}">
                <a16:creationId xmlns:a16="http://schemas.microsoft.com/office/drawing/2014/main" id="{81524E44-95AF-921E-A0B3-43A9B9F30DA0}"/>
              </a:ext>
            </a:extLst>
          </p:cNvPr>
          <p:cNvPicPr>
            <a:picLocks noChangeAspect="1"/>
          </p:cNvPicPr>
          <p:nvPr/>
        </p:nvPicPr>
        <p:blipFill>
          <a:blip r:embed="rId5"/>
          <a:stretch>
            <a:fillRect/>
          </a:stretch>
        </p:blipFill>
        <p:spPr>
          <a:xfrm>
            <a:off x="6461408" y="1828800"/>
            <a:ext cx="5332571" cy="3997231"/>
          </a:xfrm>
          <a:prstGeom prst="rect">
            <a:avLst/>
          </a:prstGeom>
        </p:spPr>
      </p:pic>
    </p:spTree>
    <p:extLst>
      <p:ext uri="{BB962C8B-B14F-4D97-AF65-F5344CB8AC3E}">
        <p14:creationId xmlns:p14="http://schemas.microsoft.com/office/powerpoint/2010/main" val="2708952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6841-2B64-C703-140F-72888A681FF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1442277-0713-CF86-9C72-C7F4C08542BE}"/>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D1D88931-AD1F-E7E3-AE29-10225BA4B7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848EC50-019A-BC6D-90F5-4571C6C07E50}"/>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B828E43D-C867-F707-EA78-64DA9E99CF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666F2293-75A9-6414-4CDE-D78558B4F715}"/>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A784A79A-F932-553B-1F79-905A443EA8DA}"/>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2A36C5BC-3D1A-46D9-D37A-E63DE08EC6B5}"/>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64D20506-A2EA-64CD-BFDF-F0785FD21776}"/>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F877ACB9-1208-8378-2CCD-875DD877704F}"/>
              </a:ext>
            </a:extLst>
          </p:cNvPr>
          <p:cNvPicPr>
            <a:picLocks noChangeAspect="1"/>
          </p:cNvPicPr>
          <p:nvPr/>
        </p:nvPicPr>
        <p:blipFill>
          <a:blip r:embed="rId4"/>
          <a:stretch>
            <a:fillRect/>
          </a:stretch>
        </p:blipFill>
        <p:spPr>
          <a:xfrm>
            <a:off x="74612" y="846182"/>
            <a:ext cx="3901778" cy="5265876"/>
          </a:xfrm>
          <a:prstGeom prst="rect">
            <a:avLst/>
          </a:prstGeom>
        </p:spPr>
      </p:pic>
      <p:pic>
        <p:nvPicPr>
          <p:cNvPr id="11" name="Imagen 10">
            <a:extLst>
              <a:ext uri="{FF2B5EF4-FFF2-40B4-BE49-F238E27FC236}">
                <a16:creationId xmlns:a16="http://schemas.microsoft.com/office/drawing/2014/main" id="{7442CAA9-C849-3C4A-485B-7F4D45E7CF82}"/>
              </a:ext>
            </a:extLst>
          </p:cNvPr>
          <p:cNvPicPr>
            <a:picLocks noChangeAspect="1"/>
          </p:cNvPicPr>
          <p:nvPr/>
        </p:nvPicPr>
        <p:blipFill>
          <a:blip r:embed="rId5"/>
          <a:stretch>
            <a:fillRect/>
          </a:stretch>
        </p:blipFill>
        <p:spPr>
          <a:xfrm>
            <a:off x="3959518" y="662131"/>
            <a:ext cx="3004013" cy="5794926"/>
          </a:xfrm>
          <a:prstGeom prst="rect">
            <a:avLst/>
          </a:prstGeom>
        </p:spPr>
      </p:pic>
      <p:pic>
        <p:nvPicPr>
          <p:cNvPr id="14" name="Imagen 13">
            <a:extLst>
              <a:ext uri="{FF2B5EF4-FFF2-40B4-BE49-F238E27FC236}">
                <a16:creationId xmlns:a16="http://schemas.microsoft.com/office/drawing/2014/main" id="{F5EE653B-8895-3181-8C08-3D02B38CED82}"/>
              </a:ext>
            </a:extLst>
          </p:cNvPr>
          <p:cNvPicPr>
            <a:picLocks noChangeAspect="1"/>
          </p:cNvPicPr>
          <p:nvPr/>
        </p:nvPicPr>
        <p:blipFill>
          <a:blip r:embed="rId6"/>
          <a:stretch>
            <a:fillRect/>
          </a:stretch>
        </p:blipFill>
        <p:spPr>
          <a:xfrm>
            <a:off x="6963531" y="857627"/>
            <a:ext cx="3177815" cy="4016088"/>
          </a:xfrm>
          <a:prstGeom prst="rect">
            <a:avLst/>
          </a:prstGeom>
        </p:spPr>
      </p:pic>
      <p:pic>
        <p:nvPicPr>
          <p:cNvPr id="19" name="Imagen 18">
            <a:extLst>
              <a:ext uri="{FF2B5EF4-FFF2-40B4-BE49-F238E27FC236}">
                <a16:creationId xmlns:a16="http://schemas.microsoft.com/office/drawing/2014/main" id="{D5E7FC80-0985-F253-1067-989E7A115A7C}"/>
              </a:ext>
            </a:extLst>
          </p:cNvPr>
          <p:cNvPicPr>
            <a:picLocks noChangeAspect="1"/>
          </p:cNvPicPr>
          <p:nvPr/>
        </p:nvPicPr>
        <p:blipFill>
          <a:blip r:embed="rId7"/>
          <a:stretch>
            <a:fillRect/>
          </a:stretch>
        </p:blipFill>
        <p:spPr>
          <a:xfrm>
            <a:off x="9005626" y="4637202"/>
            <a:ext cx="2953883" cy="1771511"/>
          </a:xfrm>
          <a:prstGeom prst="rect">
            <a:avLst/>
          </a:prstGeom>
        </p:spPr>
      </p:pic>
    </p:spTree>
    <p:extLst>
      <p:ext uri="{BB962C8B-B14F-4D97-AF65-F5344CB8AC3E}">
        <p14:creationId xmlns:p14="http://schemas.microsoft.com/office/powerpoint/2010/main" val="3546850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D0440-46FA-23E6-3EF7-27790AC546C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ACBC53F-18F7-E113-44DF-C768F3AAE53E}"/>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1632911E-5FCE-D3DF-F00F-E35D7ADD20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5A84D03-F552-29DB-7AF9-DFB349B9E9BA}"/>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67BA8B3F-9BEA-D081-D6C1-10F22B724FA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EF0EF94A-7F4D-FA60-1990-1F89E00C11CC}"/>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1BFD1B4F-3AE1-8FDA-3065-905EB01518FE}"/>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0B531F7B-E527-09FE-89ED-AB7E4DDB7A21}"/>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0F79852-C15E-DD5E-FADB-F782556CC1EF}"/>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DE544F57-AE0A-9167-B9E5-E6213073535E}"/>
              </a:ext>
            </a:extLst>
          </p:cNvPr>
          <p:cNvPicPr>
            <a:picLocks noChangeAspect="1"/>
          </p:cNvPicPr>
          <p:nvPr/>
        </p:nvPicPr>
        <p:blipFill>
          <a:blip r:embed="rId4"/>
          <a:stretch>
            <a:fillRect/>
          </a:stretch>
        </p:blipFill>
        <p:spPr>
          <a:xfrm>
            <a:off x="74612" y="750338"/>
            <a:ext cx="3994751" cy="4751794"/>
          </a:xfrm>
          <a:prstGeom prst="rect">
            <a:avLst/>
          </a:prstGeom>
        </p:spPr>
      </p:pic>
      <p:pic>
        <p:nvPicPr>
          <p:cNvPr id="12" name="Imagen 11">
            <a:extLst>
              <a:ext uri="{FF2B5EF4-FFF2-40B4-BE49-F238E27FC236}">
                <a16:creationId xmlns:a16="http://schemas.microsoft.com/office/drawing/2014/main" id="{D5E69943-448C-F350-B785-AF2DC3C5EDD9}"/>
              </a:ext>
            </a:extLst>
          </p:cNvPr>
          <p:cNvPicPr>
            <a:picLocks noChangeAspect="1"/>
          </p:cNvPicPr>
          <p:nvPr/>
        </p:nvPicPr>
        <p:blipFill>
          <a:blip r:embed="rId5"/>
          <a:stretch>
            <a:fillRect/>
          </a:stretch>
        </p:blipFill>
        <p:spPr>
          <a:xfrm>
            <a:off x="3967802" y="731599"/>
            <a:ext cx="4320914" cy="4770533"/>
          </a:xfrm>
          <a:prstGeom prst="rect">
            <a:avLst/>
          </a:prstGeom>
        </p:spPr>
      </p:pic>
      <p:pic>
        <p:nvPicPr>
          <p:cNvPr id="15" name="Imagen 14">
            <a:extLst>
              <a:ext uri="{FF2B5EF4-FFF2-40B4-BE49-F238E27FC236}">
                <a16:creationId xmlns:a16="http://schemas.microsoft.com/office/drawing/2014/main" id="{1E3E40D4-0DC0-B3E2-D50A-5A4213F655FC}"/>
              </a:ext>
            </a:extLst>
          </p:cNvPr>
          <p:cNvPicPr>
            <a:picLocks noChangeAspect="1"/>
          </p:cNvPicPr>
          <p:nvPr/>
        </p:nvPicPr>
        <p:blipFill>
          <a:blip r:embed="rId6"/>
          <a:stretch>
            <a:fillRect/>
          </a:stretch>
        </p:blipFill>
        <p:spPr>
          <a:xfrm>
            <a:off x="8249793" y="719380"/>
            <a:ext cx="3952795" cy="4361904"/>
          </a:xfrm>
          <a:prstGeom prst="rect">
            <a:avLst/>
          </a:prstGeom>
        </p:spPr>
      </p:pic>
    </p:spTree>
    <p:extLst>
      <p:ext uri="{BB962C8B-B14F-4D97-AF65-F5344CB8AC3E}">
        <p14:creationId xmlns:p14="http://schemas.microsoft.com/office/powerpoint/2010/main" val="3771779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B7A35-5F37-7DC3-53EB-8916725596B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6B1629B-BB3A-C3C7-1C88-6EBEF063C5F4}"/>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F587C255-5390-69AF-7540-AD7F7A09CC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11D4EC1-062F-664A-DA2D-1BED1F76C3F8}"/>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DA4D3043-6976-3ABC-63C1-997D76F16E5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B3D9A13D-789A-264C-865E-E19A78DFEA54}"/>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E5FF71D-1A5E-1DA1-36A6-6FD5AA578ACC}"/>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C5F063F0-CEA1-3D18-385A-4D7AD774D22D}"/>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04BCC5F3-F27E-65C0-2CD6-9036E8B102E8}"/>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pic>
        <p:nvPicPr>
          <p:cNvPr id="4" name="Imagen 3">
            <a:extLst>
              <a:ext uri="{FF2B5EF4-FFF2-40B4-BE49-F238E27FC236}">
                <a16:creationId xmlns:a16="http://schemas.microsoft.com/office/drawing/2014/main" id="{F8D9D102-7CEC-C049-5D16-FE50B80453A3}"/>
              </a:ext>
            </a:extLst>
          </p:cNvPr>
          <p:cNvPicPr>
            <a:picLocks noChangeAspect="1"/>
          </p:cNvPicPr>
          <p:nvPr/>
        </p:nvPicPr>
        <p:blipFill>
          <a:blip r:embed="rId4"/>
          <a:stretch>
            <a:fillRect/>
          </a:stretch>
        </p:blipFill>
        <p:spPr>
          <a:xfrm>
            <a:off x="600760" y="846182"/>
            <a:ext cx="4115157" cy="5227773"/>
          </a:xfrm>
          <a:prstGeom prst="rect">
            <a:avLst/>
          </a:prstGeom>
        </p:spPr>
      </p:pic>
      <p:pic>
        <p:nvPicPr>
          <p:cNvPr id="14" name="Imagen 13">
            <a:extLst>
              <a:ext uri="{FF2B5EF4-FFF2-40B4-BE49-F238E27FC236}">
                <a16:creationId xmlns:a16="http://schemas.microsoft.com/office/drawing/2014/main" id="{8BD6B18A-15ED-A2A1-DD8E-5206876B6450}"/>
              </a:ext>
            </a:extLst>
          </p:cNvPr>
          <p:cNvPicPr>
            <a:picLocks noChangeAspect="1"/>
          </p:cNvPicPr>
          <p:nvPr/>
        </p:nvPicPr>
        <p:blipFill>
          <a:blip r:embed="rId5"/>
          <a:stretch>
            <a:fillRect/>
          </a:stretch>
        </p:blipFill>
        <p:spPr>
          <a:xfrm>
            <a:off x="6036571" y="1600200"/>
            <a:ext cx="5654530" cy="4320914"/>
          </a:xfrm>
          <a:prstGeom prst="rect">
            <a:avLst/>
          </a:prstGeom>
        </p:spPr>
      </p:pic>
    </p:spTree>
    <p:extLst>
      <p:ext uri="{BB962C8B-B14F-4D97-AF65-F5344CB8AC3E}">
        <p14:creationId xmlns:p14="http://schemas.microsoft.com/office/powerpoint/2010/main" val="841923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r>
              <a:rPr lang="es-ES" sz="1200" b="1" dirty="0"/>
              <a:t>Python </a:t>
            </a:r>
            <a:r>
              <a:rPr lang="es-ES" sz="1200" b="1" dirty="0" err="1"/>
              <a:t>code</a:t>
            </a:r>
            <a:r>
              <a:rPr lang="es-ES" sz="1200" b="1" dirty="0"/>
              <a:t> block 1:</a:t>
            </a:r>
            <a:br>
              <a:rPr lang="es-ES" sz="1200" dirty="0"/>
            </a:br>
            <a:r>
              <a:rPr lang="es-ES" sz="1200" dirty="0"/>
              <a:t>Se genera el </a:t>
            </a:r>
            <a:r>
              <a:rPr lang="es-ES" sz="1200" dirty="0" err="1"/>
              <a:t>layout</a:t>
            </a:r>
            <a:r>
              <a:rPr lang="es-ES" sz="1200" dirty="0"/>
              <a:t> principal del chip, incorporando la celda </a:t>
            </a:r>
            <a:r>
              <a:rPr lang="es-ES" sz="1200" i="1" dirty="0"/>
              <a:t>die</a:t>
            </a:r>
            <a:r>
              <a:rPr lang="es-ES" sz="1200" dirty="0"/>
              <a:t> como región de trabajo y situando en su interior un MMI 2×2 de </a:t>
            </a:r>
            <a:r>
              <a:rPr lang="es-ES" sz="1200"/>
              <a:t>prueba.</a:t>
            </a:r>
          </a:p>
          <a:p>
            <a:endParaRPr lang="es-ES" sz="1200" dirty="0"/>
          </a:p>
          <a:p>
            <a:r>
              <a:rPr lang="es-ES" sz="1200" b="1" dirty="0"/>
              <a:t>Python </a:t>
            </a:r>
            <a:r>
              <a:rPr lang="es-ES" sz="1200" b="1" dirty="0" err="1"/>
              <a:t>code</a:t>
            </a:r>
            <a:r>
              <a:rPr lang="es-ES" sz="1200" b="1" dirty="0"/>
              <a:t> block 2:</a:t>
            </a:r>
            <a:br>
              <a:rPr lang="es-ES" sz="1200" dirty="0"/>
            </a:br>
            <a:r>
              <a:rPr lang="es-ES" sz="1200" dirty="0"/>
              <a:t>Se realiza la interconexión de los puertos del MMI hacia el perímetro del </a:t>
            </a:r>
            <a:r>
              <a:rPr lang="es-ES" sz="1200" i="1" dirty="0"/>
              <a:t>die</a:t>
            </a:r>
            <a:r>
              <a:rPr lang="es-ES" sz="1200" dirty="0"/>
              <a:t> mediante guías de acceso y trayectorias tipo </a:t>
            </a:r>
            <a:r>
              <a:rPr lang="es-ES" sz="1200" i="1" dirty="0"/>
              <a:t>S-</a:t>
            </a:r>
            <a:r>
              <a:rPr lang="es-ES" sz="1200" i="1" dirty="0" err="1"/>
              <a:t>bend</a:t>
            </a:r>
            <a:r>
              <a:rPr lang="es-ES" sz="1200" dirty="0"/>
              <a:t>, permitiendo su conexión con el exterior del chip.</a:t>
            </a:r>
          </a:p>
          <a:p>
            <a:endParaRPr lang="es-ES" sz="1200" dirty="0"/>
          </a:p>
          <a:p>
            <a:r>
              <a:rPr lang="es-ES" sz="1200" b="1" dirty="0"/>
              <a:t>Python </a:t>
            </a:r>
            <a:r>
              <a:rPr lang="es-ES" sz="1200" b="1" dirty="0" err="1"/>
              <a:t>code</a:t>
            </a:r>
            <a:r>
              <a:rPr lang="es-ES" sz="1200" b="1" dirty="0"/>
              <a:t> block 3:</a:t>
            </a:r>
            <a:br>
              <a:rPr lang="es-ES" sz="1200" dirty="0"/>
            </a:br>
            <a:r>
              <a:rPr lang="es-ES" sz="1200" dirty="0"/>
              <a:t>Se define una estructura jerárquica mediante la creación de una celda compuesta por varios MMI 2×2, formando un árbol óptico 1×4 con sus correspondientes puertos de entrada y salida.</a:t>
            </a:r>
          </a:p>
          <a:p>
            <a:endParaRPr lang="es-ES" sz="1200" dirty="0"/>
          </a:p>
          <a:p>
            <a:r>
              <a:rPr lang="es-ES" sz="1200" b="1" dirty="0"/>
              <a:t>Python </a:t>
            </a:r>
            <a:r>
              <a:rPr lang="es-ES" sz="1200" b="1" dirty="0" err="1"/>
              <a:t>code</a:t>
            </a:r>
            <a:r>
              <a:rPr lang="es-ES" sz="1200" b="1" dirty="0"/>
              <a:t> block 4:</a:t>
            </a:r>
            <a:br>
              <a:rPr lang="es-ES" sz="1200" dirty="0"/>
            </a:br>
            <a:r>
              <a:rPr lang="es-ES" sz="1200" dirty="0"/>
              <a:t>Se integra el árbol 1×4 dentro de la celda </a:t>
            </a:r>
            <a:r>
              <a:rPr lang="es-ES" sz="1200" i="1" dirty="0"/>
              <a:t>die</a:t>
            </a:r>
            <a:r>
              <a:rPr lang="es-ES" sz="1200" dirty="0"/>
              <a:t> y se añaden matrices de guías de entrada y salida, conectando todos los puertos del sistema hasta los límites del chip.</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4F5FE71-3005-DD28-5A06-1330678AD855}"/>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32DD889E-1431-5175-6F50-39D91FEF020E}"/>
              </a:ext>
            </a:extLst>
          </p:cNvPr>
          <p:cNvPicPr>
            <a:picLocks noChangeAspect="1"/>
          </p:cNvPicPr>
          <p:nvPr/>
        </p:nvPicPr>
        <p:blipFill>
          <a:blip r:embed="rId4"/>
          <a:stretch>
            <a:fillRect/>
          </a:stretch>
        </p:blipFill>
        <p:spPr>
          <a:xfrm>
            <a:off x="6335792" y="1352369"/>
            <a:ext cx="5464013" cy="4153260"/>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9B724-22B1-C71B-8A24-6FC8C60311D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3AF8ACB-66BC-ABCF-1ABC-68D0DC240BE8}"/>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39B1E8D4-CD03-88B9-BCA4-BE8DA735A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4E86F72-2DC9-2EEC-8FAE-B3BC7DD61D37}"/>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61362E7B-68EB-7FDC-F7A3-8944040A1D5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117E2563-84A8-5A01-DEF7-DD6826C1585F}"/>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marL="171450" indent="-171450" algn="just">
              <a:buFontTx/>
              <a:buChar char="-"/>
            </a:pPr>
            <a:r>
              <a:rPr lang="en-US" sz="1200" dirty="0">
                <a:latin typeface="Arial" panose="020B0604020202020204" pitchFamily="34" charset="0"/>
                <a:cs typeface="Arial" panose="020B0604020202020204" pitchFamily="34" charset="0"/>
              </a:rPr>
              <a:t>Create a cell component for a unbalanced MZI, using 2x2 50:50 MMIs with arm length difference as parameter</a:t>
            </a:r>
          </a:p>
          <a:p>
            <a:pPr marL="171450" indent="-171450" algn="just">
              <a:buFontTx/>
              <a:buChar char="-"/>
            </a:pP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#Create a cell component for a unbalanced MZI, using 2x2 50:50 MMIs with arm length difference as parameter</a:t>
            </a:r>
          </a:p>
          <a:p>
            <a:pPr algn="just"/>
            <a:r>
              <a:rPr lang="en-US" sz="1200" dirty="0" err="1">
                <a:latin typeface="Arial" panose="020B0604020202020204" pitchFamily="34" charset="0"/>
                <a:cs typeface="Arial" panose="020B0604020202020204" pitchFamily="34" charset="0"/>
              </a:rPr>
              <a:t>xs_deep</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gf.cross_section.strip</a:t>
            </a:r>
            <a:r>
              <a:rPr lang="en-US" sz="1200" dirty="0">
                <a:latin typeface="Arial" panose="020B0604020202020204" pitchFamily="34" charset="0"/>
                <a:cs typeface="Arial" panose="020B0604020202020204" pitchFamily="34" charset="0"/>
              </a:rPr>
              <a:t>(width=1.2, layer='WG', </a:t>
            </a:r>
            <a:r>
              <a:rPr lang="en-US" sz="1200" dirty="0" err="1">
                <a:latin typeface="Arial" panose="020B0604020202020204" pitchFamily="34" charset="0"/>
                <a:cs typeface="Arial" panose="020B0604020202020204" pitchFamily="34" charset="0"/>
              </a:rPr>
              <a:t>radius_min</a:t>
            </a:r>
            <a:r>
              <a:rPr lang="en-US" sz="1200" dirty="0">
                <a:latin typeface="Arial" panose="020B0604020202020204" pitchFamily="34" charset="0"/>
                <a:cs typeface="Arial" panose="020B0604020202020204" pitchFamily="34" charset="0"/>
              </a:rPr>
              <a:t>=10.0)</a:t>
            </a:r>
          </a:p>
          <a:p>
            <a:pPr algn="just"/>
            <a:r>
              <a:rPr lang="en-US" sz="1200" dirty="0">
                <a:latin typeface="Arial" panose="020B0604020202020204" pitchFamily="34" charset="0"/>
                <a:cs typeface="Arial" panose="020B0604020202020204" pitchFamily="34" charset="0"/>
              </a:rPr>
              <a:t>@gf.cell</a:t>
            </a:r>
          </a:p>
          <a:p>
            <a:pPr algn="just"/>
            <a:r>
              <a:rPr lang="en-US" sz="1200" dirty="0">
                <a:latin typeface="Arial" panose="020B0604020202020204" pitchFamily="34" charset="0"/>
                <a:cs typeface="Arial" panose="020B0604020202020204" pitchFamily="34" charset="0"/>
              </a:rPr>
              <a:t>def </a:t>
            </a:r>
            <a:r>
              <a:rPr lang="en-US" sz="1200" dirty="0" err="1">
                <a:latin typeface="Arial" panose="020B0604020202020204" pitchFamily="34" charset="0"/>
                <a:cs typeface="Arial" panose="020B0604020202020204" pitchFamily="34" charset="0"/>
              </a:rPr>
              <a:t>unbalanced_mzi</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c = </a:t>
            </a:r>
            <a:r>
              <a:rPr lang="en-US" sz="1200" dirty="0" err="1">
                <a:latin typeface="Arial" panose="020B0604020202020204" pitchFamily="34" charset="0"/>
                <a:cs typeface="Arial" panose="020B0604020202020204" pitchFamily="34" charset="0"/>
              </a:rPr>
              <a:t>gf.Component</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mzi</a:t>
            </a:r>
            <a:r>
              <a:rPr lang="en-US" sz="1200" dirty="0">
                <a:latin typeface="Arial" panose="020B0604020202020204" pitchFamily="34" charset="0"/>
                <a:cs typeface="Arial" panose="020B0604020202020204" pitchFamily="34" charset="0"/>
              </a:rPr>
              <a:t> = gf.components.mzi2x2_2x2(</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splitter=cells.mmi2x2(</a:t>
            </a:r>
            <a:r>
              <a:rPr lang="en-US" sz="1200" dirty="0" err="1">
                <a:latin typeface="Arial" panose="020B0604020202020204" pitchFamily="34" charset="0"/>
                <a:cs typeface="Arial" panose="020B0604020202020204" pitchFamily="34" charset="0"/>
              </a:rPr>
              <a:t>cross_section</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xs_deep</a:t>
            </a:r>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combiner=cells.mmi2x2(</a:t>
            </a:r>
            <a:r>
              <a:rPr lang="en-US" sz="1200" dirty="0" err="1">
                <a:latin typeface="Arial" panose="020B0604020202020204" pitchFamily="34" charset="0"/>
                <a:cs typeface="Arial" panose="020B0604020202020204" pitchFamily="34" charset="0"/>
              </a:rPr>
              <a:t>cross_section</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xs_deep</a:t>
            </a:r>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cross_section</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xs_deep</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ref = </a:t>
            </a:r>
            <a:r>
              <a:rPr lang="en-US" sz="1200" dirty="0" err="1">
                <a:latin typeface="Arial" panose="020B0604020202020204" pitchFamily="34" charset="0"/>
                <a:cs typeface="Arial" panose="020B0604020202020204" pitchFamily="34" charset="0"/>
              </a:rPr>
              <a:t>c.add_ref</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mzi</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c.add_ports</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ref.ports</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return c</a:t>
            </a:r>
          </a:p>
          <a:p>
            <a:pPr algn="just"/>
            <a:r>
              <a:rPr lang="en-US" sz="1200" dirty="0" err="1">
                <a:latin typeface="Arial" panose="020B0604020202020204" pitchFamily="34" charset="0"/>
                <a:cs typeface="Arial" panose="020B0604020202020204" pitchFamily="34" charset="0"/>
              </a:rPr>
              <a:t>mzi_unbalanced</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unbalanced_mzi</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=200.0)</a:t>
            </a:r>
          </a:p>
          <a:p>
            <a:pPr algn="just"/>
            <a:r>
              <a:rPr lang="en-US" sz="1200" dirty="0" err="1">
                <a:latin typeface="Arial" panose="020B0604020202020204" pitchFamily="34" charset="0"/>
                <a:cs typeface="Arial" panose="020B0604020202020204" pitchFamily="34" charset="0"/>
              </a:rPr>
              <a:t>mzi_unbalanced.plot</a:t>
            </a:r>
            <a:r>
              <a:rPr lang="en-US" sz="1200" dirty="0">
                <a:latin typeface="Arial" panose="020B0604020202020204" pitchFamily="34" charset="0"/>
                <a:cs typeface="Arial" panose="020B0604020202020204" pitchFamily="34" charset="0"/>
              </a:rPr>
              <a:t>()</a:t>
            </a:r>
          </a:p>
          <a:p>
            <a:pPr algn="just"/>
            <a:r>
              <a:rPr lang="en-US" sz="1200" dirty="0" err="1">
                <a:latin typeface="Arial" panose="020B0604020202020204" pitchFamily="34" charset="0"/>
                <a:cs typeface="Arial" panose="020B0604020202020204" pitchFamily="34" charset="0"/>
              </a:rPr>
              <a:t>mzi_unbalanced.show</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8B71DC0-8019-C615-9F6C-12219B8B8A3B}"/>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6A90EDEC-2F1A-4190-E2FB-0B1B5A4242DD}"/>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5BBA85E5-7F3E-4510-1FCE-DE1FBEB14E45}"/>
              </a:ext>
            </a:extLst>
          </p:cNvPr>
          <p:cNvPicPr>
            <a:picLocks noChangeAspect="1"/>
          </p:cNvPicPr>
          <p:nvPr/>
        </p:nvPicPr>
        <p:blipFill>
          <a:blip r:embed="rId4"/>
          <a:stretch>
            <a:fillRect/>
          </a:stretch>
        </p:blipFill>
        <p:spPr>
          <a:xfrm>
            <a:off x="6183005" y="1169363"/>
            <a:ext cx="6477561" cy="4877223"/>
          </a:xfrm>
          <a:prstGeom prst="rect">
            <a:avLst/>
          </a:prstGeom>
        </p:spPr>
      </p:pic>
    </p:spTree>
    <p:extLst>
      <p:ext uri="{BB962C8B-B14F-4D97-AF65-F5344CB8AC3E}">
        <p14:creationId xmlns:p14="http://schemas.microsoft.com/office/powerpoint/2010/main" val="3266176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FF37E-9F8C-61B0-2275-1F60EAE3A52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DECA009-9D98-ABDA-16E0-DD832EB32FA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FAAC157F-59AA-578C-6651-6E8D8BD695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A58FE8F-6082-B566-F3D6-C73B9D07C967}"/>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E27E1A02-AAED-2E0A-6C05-5F114A4E19E2}"/>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FAF3F1EE-A0DE-EB5E-AA3B-D775CDA7E372}"/>
              </a:ext>
            </a:extLst>
          </p:cNvPr>
          <p:cNvSpPr txBox="1"/>
          <p:nvPr/>
        </p:nvSpPr>
        <p:spPr>
          <a:xfrm>
            <a:off x="643812" y="990285"/>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marL="171450" indent="-171450" algn="just">
              <a:buFontTx/>
              <a:buChar char="-"/>
            </a:pPr>
            <a:r>
              <a:rPr lang="en-US" sz="1200" dirty="0">
                <a:latin typeface="Arial" panose="020B0604020202020204" pitchFamily="34" charset="0"/>
                <a:cs typeface="Arial" panose="020B0604020202020204" pitchFamily="34" charset="0"/>
              </a:rPr>
              <a:t>Create a cell component based on the previous, where the arms have thermal tuners on top of each one</a:t>
            </a:r>
          </a:p>
          <a:p>
            <a:pPr marL="171450" indent="-171450" algn="just">
              <a:buFontTx/>
              <a:buChar char="-"/>
            </a:pP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#Create a cell component based on the previous, where the arms have thermal tuners on top of each one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@gf.cell</a:t>
            </a:r>
          </a:p>
          <a:p>
            <a:pPr algn="just"/>
            <a:r>
              <a:rPr lang="en-US" sz="1200" dirty="0">
                <a:latin typeface="Arial" panose="020B0604020202020204" pitchFamily="34" charset="0"/>
                <a:cs typeface="Arial" panose="020B0604020202020204" pitchFamily="34" charset="0"/>
              </a:rPr>
              <a:t>def </a:t>
            </a:r>
            <a:r>
              <a:rPr lang="en-US" sz="1200" dirty="0" err="1">
                <a:latin typeface="Arial" panose="020B0604020202020204" pitchFamily="34" charset="0"/>
                <a:cs typeface="Arial" panose="020B0604020202020204" pitchFamily="34" charset="0"/>
              </a:rPr>
              <a:t>unbalanced_mzi_heater</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=0.0, length=100.0):</a:t>
            </a:r>
          </a:p>
          <a:p>
            <a:pPr algn="just"/>
            <a:r>
              <a:rPr lang="en-US" sz="1200" dirty="0">
                <a:latin typeface="Arial" panose="020B0604020202020204" pitchFamily="34" charset="0"/>
                <a:cs typeface="Arial" panose="020B0604020202020204" pitchFamily="34" charset="0"/>
              </a:rPr>
              <a:t>    c = </a:t>
            </a:r>
            <a:r>
              <a:rPr lang="en-US" sz="1200" dirty="0" err="1">
                <a:latin typeface="Arial" panose="020B0604020202020204" pitchFamily="34" charset="0"/>
                <a:cs typeface="Arial" panose="020B0604020202020204" pitchFamily="34" charset="0"/>
              </a:rPr>
              <a:t>gf.Component</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mzi</a:t>
            </a:r>
            <a:r>
              <a:rPr lang="en-US" sz="1200" dirty="0">
                <a:latin typeface="Arial" panose="020B0604020202020204" pitchFamily="34" charset="0"/>
                <a:cs typeface="Arial" panose="020B0604020202020204" pitchFamily="34" charset="0"/>
              </a:rPr>
              <a:t> = gf.components.mzi2x2_2x2(</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length_x</a:t>
            </a:r>
            <a:r>
              <a:rPr lang="en-US" sz="1200" dirty="0">
                <a:latin typeface="Arial" panose="020B0604020202020204" pitchFamily="34" charset="0"/>
                <a:cs typeface="Arial" panose="020B0604020202020204" pitchFamily="34" charset="0"/>
              </a:rPr>
              <a:t>=length,    </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straight_x_top</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gf.components.straight_heater_metal</a:t>
            </a:r>
            <a:r>
              <a:rPr lang="en-US" sz="1200" dirty="0">
                <a:latin typeface="Arial" panose="020B0604020202020204" pitchFamily="34" charset="0"/>
                <a:cs typeface="Arial" panose="020B0604020202020204" pitchFamily="34" charset="0"/>
              </a:rPr>
              <a:t>(length=length),   </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straight_x_bot</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gf.components.straight_heater_metal</a:t>
            </a:r>
            <a:r>
              <a:rPr lang="en-US" sz="1200" dirty="0">
                <a:latin typeface="Arial" panose="020B0604020202020204" pitchFamily="34" charset="0"/>
                <a:cs typeface="Arial" panose="020B0604020202020204" pitchFamily="34" charset="0"/>
              </a:rPr>
              <a:t>(length=length),</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cross_section</a:t>
            </a:r>
            <a:r>
              <a:rPr lang="en-US" sz="1200" dirty="0">
                <a:latin typeface="Arial" panose="020B0604020202020204" pitchFamily="34" charset="0"/>
                <a:cs typeface="Arial" panose="020B0604020202020204" pitchFamily="34" charset="0"/>
              </a:rPr>
              <a:t>='strip'</a:t>
            </a: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ref = </a:t>
            </a:r>
            <a:r>
              <a:rPr lang="en-US" sz="1200" dirty="0" err="1">
                <a:latin typeface="Arial" panose="020B0604020202020204" pitchFamily="34" charset="0"/>
                <a:cs typeface="Arial" panose="020B0604020202020204" pitchFamily="34" charset="0"/>
              </a:rPr>
              <a:t>c.add_ref</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mzi</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c.add_ports</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ref.ports</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return c</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gf.clear_cache</a:t>
            </a:r>
            <a:r>
              <a:rPr lang="en-US" sz="1200" dirty="0">
                <a:latin typeface="Arial" panose="020B0604020202020204" pitchFamily="34" charset="0"/>
                <a:cs typeface="Arial" panose="020B0604020202020204" pitchFamily="34" charset="0"/>
              </a:rPr>
              <a:t>()</a:t>
            </a:r>
          </a:p>
          <a:p>
            <a:pPr algn="just"/>
            <a:r>
              <a:rPr lang="en-US" sz="1200" dirty="0" err="1">
                <a:latin typeface="Arial" panose="020B0604020202020204" pitchFamily="34" charset="0"/>
                <a:cs typeface="Arial" panose="020B0604020202020204" pitchFamily="34" charset="0"/>
              </a:rPr>
              <a:t>mzi</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unbalanced_mzi_heater</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delta_length</a:t>
            </a:r>
            <a:r>
              <a:rPr lang="en-US" sz="1200" dirty="0">
                <a:latin typeface="Arial" panose="020B0604020202020204" pitchFamily="34" charset="0"/>
                <a:cs typeface="Arial" panose="020B0604020202020204" pitchFamily="34" charset="0"/>
              </a:rPr>
              <a:t>=200, length=50)</a:t>
            </a:r>
          </a:p>
          <a:p>
            <a:pPr algn="just"/>
            <a:r>
              <a:rPr lang="en-US" sz="1200" dirty="0" err="1">
                <a:latin typeface="Arial" panose="020B0604020202020204" pitchFamily="34" charset="0"/>
                <a:cs typeface="Arial" panose="020B0604020202020204" pitchFamily="34" charset="0"/>
              </a:rPr>
              <a:t>mzi.plot</a:t>
            </a:r>
            <a:r>
              <a:rPr lang="en-US" sz="1200" dirty="0">
                <a:latin typeface="Arial" panose="020B0604020202020204" pitchFamily="34" charset="0"/>
                <a:cs typeface="Arial" panose="020B0604020202020204" pitchFamily="34" charset="0"/>
              </a:rPr>
              <a:t>()</a:t>
            </a:r>
          </a:p>
        </p:txBody>
      </p:sp>
      <p:sp>
        <p:nvSpPr>
          <p:cNvPr id="8" name="Rectángulo 7">
            <a:extLst>
              <a:ext uri="{FF2B5EF4-FFF2-40B4-BE49-F238E27FC236}">
                <a16:creationId xmlns:a16="http://schemas.microsoft.com/office/drawing/2014/main" id="{8DF67C07-4B7E-E4DD-FC0F-5A37D3735D34}"/>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3DD3778-3108-32D3-8EA0-D7D166B1DD94}"/>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C754692F-3B18-BEC2-26DE-CFA41464162D}"/>
              </a:ext>
            </a:extLst>
          </p:cNvPr>
          <p:cNvPicPr>
            <a:picLocks noChangeAspect="1"/>
          </p:cNvPicPr>
          <p:nvPr/>
        </p:nvPicPr>
        <p:blipFill>
          <a:blip r:embed="rId4"/>
          <a:stretch>
            <a:fillRect/>
          </a:stretch>
        </p:blipFill>
        <p:spPr>
          <a:xfrm>
            <a:off x="6265506" y="1071871"/>
            <a:ext cx="6485182" cy="4953429"/>
          </a:xfrm>
          <a:prstGeom prst="rect">
            <a:avLst/>
          </a:prstGeom>
        </p:spPr>
      </p:pic>
    </p:spTree>
    <p:extLst>
      <p:ext uri="{BB962C8B-B14F-4D97-AF65-F5344CB8AC3E}">
        <p14:creationId xmlns:p14="http://schemas.microsoft.com/office/powerpoint/2010/main" val="1593324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FD1D-3835-AE78-D802-7A4DFA425E6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FF0B95C-1D33-03B4-62B4-50CC21DC93E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01C870D-B301-E43F-C0B3-26C9E36B27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B4A18F5-4338-700F-243E-E1D9667467CA}"/>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F199DA7E-D8F7-71DA-9EEF-4F07374E04A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86FADC0-E2F4-ECD0-7DFA-0858E6156A1B}"/>
              </a:ext>
            </a:extLst>
          </p:cNvPr>
          <p:cNvSpPr txBox="1"/>
          <p:nvPr/>
        </p:nvSpPr>
        <p:spPr>
          <a:xfrm>
            <a:off x="647700" y="990285"/>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#Create a cell component for an all-pass ring resonator, using 2x2 50:50 MMIs, with extra length parameter for different perimeters</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import </a:t>
            </a:r>
            <a:r>
              <a:rPr lang="en-US" sz="1000" dirty="0" err="1">
                <a:latin typeface="Arial" panose="020B0604020202020204" pitchFamily="34" charset="0"/>
                <a:cs typeface="Arial" panose="020B0604020202020204" pitchFamily="34" charset="0"/>
              </a:rPr>
              <a:t>gdsfactory</a:t>
            </a:r>
            <a:r>
              <a:rPr lang="en-US" sz="1000" dirty="0">
                <a:latin typeface="Arial" panose="020B0604020202020204" pitchFamily="34" charset="0"/>
                <a:cs typeface="Arial" panose="020B0604020202020204" pitchFamily="34" charset="0"/>
              </a:rPr>
              <a:t> as gf</a:t>
            </a: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gf.clear_cache</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@gf.cell</a:t>
            </a:r>
          </a:p>
          <a:p>
            <a:pPr algn="just"/>
            <a:r>
              <a:rPr lang="en-US" sz="1000" dirty="0">
                <a:latin typeface="Arial" panose="020B0604020202020204" pitchFamily="34" charset="0"/>
                <a:cs typeface="Arial" panose="020B0604020202020204" pitchFamily="34" charset="0"/>
              </a:rPr>
              <a:t>def mmi2x2():</a:t>
            </a:r>
          </a:p>
          <a:p>
            <a:pPr algn="just"/>
            <a:r>
              <a:rPr lang="en-US" sz="1000" dirty="0">
                <a:latin typeface="Arial" panose="020B0604020202020204" pitchFamily="34" charset="0"/>
                <a:cs typeface="Arial" panose="020B0604020202020204" pitchFamily="34" charset="0"/>
              </a:rPr>
              <a:t>    c =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        </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xs_mmi</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gf.cross_section.strip</a:t>
            </a:r>
            <a:r>
              <a:rPr lang="en-US" sz="1000" dirty="0">
                <a:latin typeface="Arial" panose="020B0604020202020204" pitchFamily="34" charset="0"/>
                <a:cs typeface="Arial" panose="020B0604020202020204" pitchFamily="34" charset="0"/>
              </a:rPr>
              <a:t>(width=12,layer="WG")</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xs_wg</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gf.cross_section.strip</a:t>
            </a:r>
            <a:r>
              <a:rPr lang="en-US" sz="1000" dirty="0">
                <a:latin typeface="Arial" panose="020B0604020202020204" pitchFamily="34" charset="0"/>
                <a:cs typeface="Arial" panose="020B0604020202020204" pitchFamily="34" charset="0"/>
              </a:rPr>
              <a:t>(width=1.2,layer="WG")</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body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gf.components.straight</a:t>
            </a:r>
            <a:r>
              <a:rPr lang="en-US" sz="1000" dirty="0">
                <a:latin typeface="Arial" panose="020B0604020202020204" pitchFamily="34" charset="0"/>
                <a:cs typeface="Arial" panose="020B0604020202020204" pitchFamily="34" charset="0"/>
              </a:rPr>
              <a:t>(length=110,cross_section=</a:t>
            </a:r>
            <a:r>
              <a:rPr lang="en-US" sz="1000" dirty="0" err="1">
                <a:latin typeface="Arial" panose="020B0604020202020204" pitchFamily="34" charset="0"/>
                <a:cs typeface="Arial" panose="020B0604020202020204" pitchFamily="34" charset="0"/>
              </a:rPr>
              <a:t>xs_mmi</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p1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gf.components.straight</a:t>
            </a:r>
            <a:r>
              <a:rPr lang="en-US" sz="1000" dirty="0">
                <a:latin typeface="Arial" panose="020B0604020202020204" pitchFamily="34" charset="0"/>
                <a:cs typeface="Arial" panose="020B0604020202020204" pitchFamily="34" charset="0"/>
              </a:rPr>
              <a:t>(length=20,cross_section=</a:t>
            </a:r>
            <a:r>
              <a:rPr lang="en-US" sz="1000" dirty="0" err="1">
                <a:latin typeface="Arial" panose="020B0604020202020204" pitchFamily="34" charset="0"/>
                <a:cs typeface="Arial" panose="020B0604020202020204" pitchFamily="34" charset="0"/>
              </a:rPr>
              <a:t>xs_wg</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p2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gf.components.straight</a:t>
            </a:r>
            <a:r>
              <a:rPr lang="en-US" sz="1000" dirty="0">
                <a:latin typeface="Arial" panose="020B0604020202020204" pitchFamily="34" charset="0"/>
                <a:cs typeface="Arial" panose="020B0604020202020204" pitchFamily="34" charset="0"/>
              </a:rPr>
              <a:t>(length=20,cross_section=</a:t>
            </a:r>
            <a:r>
              <a:rPr lang="en-US" sz="1000" dirty="0" err="1">
                <a:latin typeface="Arial" panose="020B0604020202020204" pitchFamily="34" charset="0"/>
                <a:cs typeface="Arial" panose="020B0604020202020204" pitchFamily="34" charset="0"/>
              </a:rPr>
              <a:t>xs_wg</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p3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gf.components.straight</a:t>
            </a:r>
            <a:r>
              <a:rPr lang="en-US" sz="1000" dirty="0">
                <a:latin typeface="Arial" panose="020B0604020202020204" pitchFamily="34" charset="0"/>
                <a:cs typeface="Arial" panose="020B0604020202020204" pitchFamily="34" charset="0"/>
              </a:rPr>
              <a:t>(length=20,cross_section=</a:t>
            </a:r>
            <a:r>
              <a:rPr lang="en-US" sz="1000" dirty="0" err="1">
                <a:latin typeface="Arial" panose="020B0604020202020204" pitchFamily="34" charset="0"/>
                <a:cs typeface="Arial" panose="020B0604020202020204" pitchFamily="34" charset="0"/>
              </a:rPr>
              <a:t>xs_wg</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p4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gf.components.straight</a:t>
            </a:r>
            <a:r>
              <a:rPr lang="en-US" sz="1000" dirty="0">
                <a:latin typeface="Arial" panose="020B0604020202020204" pitchFamily="34" charset="0"/>
                <a:cs typeface="Arial" panose="020B0604020202020204" pitchFamily="34" charset="0"/>
              </a:rPr>
              <a:t>(length=20,cross_section=</a:t>
            </a:r>
            <a:r>
              <a:rPr lang="en-US" sz="1000" dirty="0" err="1">
                <a:latin typeface="Arial" panose="020B0604020202020204" pitchFamily="34" charset="0"/>
                <a:cs typeface="Arial" panose="020B0604020202020204" pitchFamily="34" charset="0"/>
              </a:rPr>
              <a:t>xs_wg</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p1.move((-20, +2))</a:t>
            </a:r>
          </a:p>
          <a:p>
            <a:pPr algn="just"/>
            <a:r>
              <a:rPr lang="en-US" sz="1000" dirty="0">
                <a:latin typeface="Arial" panose="020B0604020202020204" pitchFamily="34" charset="0"/>
                <a:cs typeface="Arial" panose="020B0604020202020204" pitchFamily="34" charset="0"/>
              </a:rPr>
              <a:t>    p2.move((-20, -2))</a:t>
            </a:r>
          </a:p>
          <a:p>
            <a:pPr algn="just"/>
            <a:r>
              <a:rPr lang="en-US" sz="1000" dirty="0">
                <a:latin typeface="Arial" panose="020B0604020202020204" pitchFamily="34" charset="0"/>
                <a:cs typeface="Arial" panose="020B0604020202020204" pitchFamily="34" charset="0"/>
              </a:rPr>
              <a:t>    p3.move((110, +2))</a:t>
            </a:r>
          </a:p>
          <a:p>
            <a:pPr algn="just"/>
            <a:r>
              <a:rPr lang="en-US" sz="1000" dirty="0">
                <a:latin typeface="Arial" panose="020B0604020202020204" pitchFamily="34" charset="0"/>
                <a:cs typeface="Arial" panose="020B0604020202020204" pitchFamily="34" charset="0"/>
              </a:rPr>
              <a:t>    p4.move((110, -2))</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("o1", port=p2.ports["o1"])</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("o2", port=p1.ports["o1"])</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("o3", port=p3.ports["o2"])</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("o4", port=p4.ports["o2"])</a:t>
            </a:r>
          </a:p>
          <a:p>
            <a:pPr algn="just"/>
            <a:r>
              <a:rPr lang="en-US" sz="1000" dirty="0">
                <a:latin typeface="Arial" panose="020B0604020202020204" pitchFamily="34" charset="0"/>
                <a:cs typeface="Arial" panose="020B0604020202020204" pitchFamily="34" charset="0"/>
              </a:rPr>
              <a:t>    return c</a:t>
            </a:r>
          </a:p>
          <a:p>
            <a:pPr algn="just"/>
            <a:r>
              <a:rPr lang="en-US" sz="1200" b="1"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6C8CA406-F1F0-D7BD-053A-971283844341}"/>
              </a:ext>
            </a:extLst>
          </p:cNvPr>
          <p:cNvSpPr/>
          <p:nvPr/>
        </p:nvSpPr>
        <p:spPr>
          <a:xfrm>
            <a:off x="6134102"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BA322944-97D2-D265-E377-6B8F93603FD7}"/>
              </a:ext>
            </a:extLst>
          </p:cNvPr>
          <p:cNvSpPr txBox="1"/>
          <p:nvPr/>
        </p:nvSpPr>
        <p:spPr>
          <a:xfrm>
            <a:off x="6134102" y="1012484"/>
            <a:ext cx="5638799" cy="5601533"/>
          </a:xfrm>
          <a:prstGeom prst="rect">
            <a:avLst/>
          </a:prstGeom>
          <a:noFill/>
        </p:spPr>
        <p:txBody>
          <a:bodyPr wrap="square" rtlCol="0">
            <a:spAutoFit/>
          </a:bodyPr>
          <a:lstStyle/>
          <a:p>
            <a:pPr algn="just"/>
            <a:r>
              <a:rPr lang="en-US" sz="1000" dirty="0">
                <a:latin typeface="Arial" panose="020B0604020202020204" pitchFamily="34" charset="0"/>
                <a:cs typeface="Arial" panose="020B0604020202020204" pitchFamily="34" charset="0"/>
              </a:rPr>
              <a:t>@gf.cell</a:t>
            </a:r>
          </a:p>
          <a:p>
            <a:pPr algn="just"/>
            <a:r>
              <a:rPr lang="en-US" sz="1000" dirty="0">
                <a:latin typeface="Arial" panose="020B0604020202020204" pitchFamily="34" charset="0"/>
                <a:cs typeface="Arial" panose="020B0604020202020204" pitchFamily="34" charset="0"/>
              </a:rPr>
              <a:t>def ring(</a:t>
            </a:r>
            <a:r>
              <a:rPr lang="en-US" sz="1000" dirty="0" err="1">
                <a:latin typeface="Arial" panose="020B0604020202020204" pitchFamily="34" charset="0"/>
                <a:cs typeface="Arial" panose="020B0604020202020204" pitchFamily="34" charset="0"/>
              </a:rPr>
              <a:t>extra_length</a:t>
            </a:r>
            <a:r>
              <a:rPr lang="en-US" sz="1000" dirty="0">
                <a:latin typeface="Arial" panose="020B0604020202020204" pitchFamily="34" charset="0"/>
                <a:cs typeface="Arial" panose="020B0604020202020204" pitchFamily="34" charset="0"/>
              </a:rPr>
              <a:t>=40.0):</a:t>
            </a:r>
          </a:p>
          <a:p>
            <a:pPr algn="just"/>
            <a:r>
              <a:rPr lang="en-US" sz="1000" dirty="0">
                <a:latin typeface="Arial" panose="020B0604020202020204" pitchFamily="34" charset="0"/>
                <a:cs typeface="Arial" panose="020B0604020202020204" pitchFamily="34" charset="0"/>
              </a:rPr>
              <a:t>    c =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xs</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gf.cross_section.strip</a:t>
            </a:r>
            <a:r>
              <a:rPr lang="en-US" sz="1000" dirty="0">
                <a:latin typeface="Arial" panose="020B0604020202020204" pitchFamily="34" charset="0"/>
                <a:cs typeface="Arial" panose="020B0604020202020204" pitchFamily="34" charset="0"/>
              </a:rPr>
              <a:t>(width=1.2, layer="WG")</a:t>
            </a:r>
          </a:p>
          <a:p>
            <a:pPr algn="just"/>
            <a:r>
              <a:rPr lang="en-US" sz="1000" dirty="0">
                <a:latin typeface="Arial" panose="020B0604020202020204" pitchFamily="34" charset="0"/>
                <a:cs typeface="Arial" panose="020B0604020202020204" pitchFamily="34" charset="0"/>
              </a:rPr>
              <a:t>    mmi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(mmi2x2())</a:t>
            </a:r>
          </a:p>
          <a:p>
            <a:pPr algn="just"/>
            <a:r>
              <a:rPr lang="en-US" sz="1000" dirty="0">
                <a:latin typeface="Arial" panose="020B0604020202020204" pitchFamily="34" charset="0"/>
                <a:cs typeface="Arial" panose="020B0604020202020204" pitchFamily="34" charset="0"/>
              </a:rPr>
              <a:t>    p1r = </a:t>
            </a:r>
            <a:r>
              <a:rPr lang="en-US" sz="1000" dirty="0" err="1">
                <a:latin typeface="Arial" panose="020B0604020202020204" pitchFamily="34" charset="0"/>
                <a:cs typeface="Arial" panose="020B0604020202020204" pitchFamily="34" charset="0"/>
              </a:rPr>
              <a:t>mmi.ports</a:t>
            </a:r>
            <a:r>
              <a:rPr lang="en-US" sz="1000" dirty="0">
                <a:latin typeface="Arial" panose="020B0604020202020204" pitchFamily="34" charset="0"/>
                <a:cs typeface="Arial" panose="020B0604020202020204" pitchFamily="34" charset="0"/>
              </a:rPr>
              <a:t>["o2"]</a:t>
            </a:r>
          </a:p>
          <a:p>
            <a:pPr algn="just"/>
            <a:r>
              <a:rPr lang="en-US" sz="1000" dirty="0">
                <a:latin typeface="Arial" panose="020B0604020202020204" pitchFamily="34" charset="0"/>
                <a:cs typeface="Arial" panose="020B0604020202020204" pitchFamily="34" charset="0"/>
              </a:rPr>
              <a:t>    p2r = </a:t>
            </a:r>
            <a:r>
              <a:rPr lang="en-US" sz="1000" dirty="0" err="1">
                <a:latin typeface="Arial" panose="020B0604020202020204" pitchFamily="34" charset="0"/>
                <a:cs typeface="Arial" panose="020B0604020202020204" pitchFamily="34" charset="0"/>
              </a:rPr>
              <a:t>mmi.ports</a:t>
            </a:r>
            <a:r>
              <a:rPr lang="en-US" sz="1000" dirty="0">
                <a:latin typeface="Arial" panose="020B0604020202020204" pitchFamily="34" charset="0"/>
                <a:cs typeface="Arial" panose="020B0604020202020204" pitchFamily="34" charset="0"/>
              </a:rPr>
              <a:t>["o3"]</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x_left</a:t>
            </a:r>
            <a:r>
              <a:rPr lang="en-US" sz="1000" dirty="0">
                <a:latin typeface="Arial" panose="020B0604020202020204" pitchFamily="34" charset="0"/>
                <a:cs typeface="Arial" panose="020B0604020202020204" pitchFamily="34" charset="0"/>
              </a:rPr>
              <a:t> = p1r.center[0] - 35</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x_right</a:t>
            </a:r>
            <a:r>
              <a:rPr lang="en-US" sz="1000" dirty="0">
                <a:latin typeface="Arial" panose="020B0604020202020204" pitchFamily="34" charset="0"/>
                <a:cs typeface="Arial" panose="020B0604020202020204" pitchFamily="34" charset="0"/>
              </a:rPr>
              <a:t> = p2r.center[0] + 35</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y_start</a:t>
            </a:r>
            <a:r>
              <a:rPr lang="en-US" sz="1000" dirty="0">
                <a:latin typeface="Arial" panose="020B0604020202020204" pitchFamily="34" charset="0"/>
                <a:cs typeface="Arial" panose="020B0604020202020204" pitchFamily="34" charset="0"/>
              </a:rPr>
              <a:t> = p1r.center[1]</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y_top</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y_start</a:t>
            </a:r>
            <a:r>
              <a:rPr lang="en-US" sz="1000" dirty="0">
                <a:latin typeface="Arial" panose="020B0604020202020204" pitchFamily="34" charset="0"/>
                <a:cs typeface="Arial" panose="020B0604020202020204" pitchFamily="34" charset="0"/>
              </a:rPr>
              <a:t> + 70 + </a:t>
            </a:r>
            <a:r>
              <a:rPr lang="en-US" sz="1000" dirty="0" err="1">
                <a:latin typeface="Arial" panose="020B0604020202020204" pitchFamily="34" charset="0"/>
                <a:cs typeface="Arial" panose="020B0604020202020204" pitchFamily="34" charset="0"/>
              </a:rPr>
              <a:t>extra_length</a:t>
            </a:r>
            <a:r>
              <a:rPr lang="en-US" sz="1000" dirty="0">
                <a:latin typeface="Arial" panose="020B0604020202020204" pitchFamily="34" charset="0"/>
                <a:cs typeface="Arial" panose="020B0604020202020204" pitchFamily="34" charset="0"/>
              </a:rPr>
              <a:t> / 2</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("in0",port=</a:t>
            </a:r>
            <a:r>
              <a:rPr lang="en-US" sz="1000" dirty="0" err="1">
                <a:latin typeface="Arial" panose="020B0604020202020204" pitchFamily="34" charset="0"/>
                <a:cs typeface="Arial" panose="020B0604020202020204" pitchFamily="34" charset="0"/>
              </a:rPr>
              <a:t>mmi.ports</a:t>
            </a:r>
            <a:r>
              <a:rPr lang="en-US" sz="1000" dirty="0">
                <a:latin typeface="Arial" panose="020B0604020202020204" pitchFamily="34" charset="0"/>
                <a:cs typeface="Arial" panose="020B0604020202020204" pitchFamily="34" charset="0"/>
              </a:rPr>
              <a:t>["o1"])</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("out0",port=</a:t>
            </a:r>
            <a:r>
              <a:rPr lang="en-US" sz="1000" dirty="0" err="1">
                <a:latin typeface="Arial" panose="020B0604020202020204" pitchFamily="34" charset="0"/>
                <a:cs typeface="Arial" panose="020B0604020202020204" pitchFamily="34" charset="0"/>
              </a:rPr>
              <a:t>mmi.ports</a:t>
            </a:r>
            <a:r>
              <a:rPr lang="en-US" sz="1000" dirty="0">
                <a:latin typeface="Arial" panose="020B0604020202020204" pitchFamily="34" charset="0"/>
                <a:cs typeface="Arial" panose="020B0604020202020204" pitchFamily="34" charset="0"/>
              </a:rPr>
              <a:t>["o4"])</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gf.routing.route_single</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component=c,</a:t>
            </a:r>
          </a:p>
          <a:p>
            <a:pPr algn="just"/>
            <a:r>
              <a:rPr lang="en-US" sz="1000" dirty="0">
                <a:latin typeface="Arial" panose="020B0604020202020204" pitchFamily="34" charset="0"/>
                <a:cs typeface="Arial" panose="020B0604020202020204" pitchFamily="34" charset="0"/>
              </a:rPr>
              <a:t>        port1=p2r,</a:t>
            </a:r>
          </a:p>
          <a:p>
            <a:pPr algn="just"/>
            <a:r>
              <a:rPr lang="en-US" sz="1000" dirty="0">
                <a:latin typeface="Arial" panose="020B0604020202020204" pitchFamily="34" charset="0"/>
                <a:cs typeface="Arial" panose="020B0604020202020204" pitchFamily="34" charset="0"/>
              </a:rPr>
              <a:t>        port2=p1r,</a:t>
            </a:r>
          </a:p>
          <a:p>
            <a:pPr algn="just"/>
            <a:r>
              <a:rPr lang="en-US" sz="1000" dirty="0">
                <a:latin typeface="Arial" panose="020B0604020202020204" pitchFamily="34" charset="0"/>
                <a:cs typeface="Arial" panose="020B0604020202020204" pitchFamily="34" charset="0"/>
              </a:rPr>
              <a:t>        steps=[</a:t>
            </a:r>
          </a:p>
          <a:p>
            <a:pPr algn="just"/>
            <a:r>
              <a:rPr lang="en-US" sz="1000" dirty="0">
                <a:latin typeface="Arial" panose="020B0604020202020204" pitchFamily="34" charset="0"/>
                <a:cs typeface="Arial" panose="020B0604020202020204" pitchFamily="34" charset="0"/>
              </a:rPr>
              <a:t>            {"x": </a:t>
            </a:r>
            <a:r>
              <a:rPr lang="en-US" sz="1000" dirty="0" err="1">
                <a:latin typeface="Arial" panose="020B0604020202020204" pitchFamily="34" charset="0"/>
                <a:cs typeface="Arial" panose="020B0604020202020204" pitchFamily="34" charset="0"/>
              </a:rPr>
              <a:t>x_right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{"y": </a:t>
            </a:r>
            <a:r>
              <a:rPr lang="en-US" sz="1000" dirty="0" err="1">
                <a:latin typeface="Arial" panose="020B0604020202020204" pitchFamily="34" charset="0"/>
                <a:cs typeface="Arial" panose="020B0604020202020204" pitchFamily="34" charset="0"/>
              </a:rPr>
              <a:t>y_top</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{"x": </a:t>
            </a:r>
            <a:r>
              <a:rPr lang="en-US" sz="1000" dirty="0" err="1">
                <a:latin typeface="Arial" panose="020B0604020202020204" pitchFamily="34" charset="0"/>
                <a:cs typeface="Arial" panose="020B0604020202020204" pitchFamily="34" charset="0"/>
              </a:rPr>
              <a:t>x_left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{"y": </a:t>
            </a:r>
            <a:r>
              <a:rPr lang="en-US" sz="1000" dirty="0" err="1">
                <a:latin typeface="Arial" panose="020B0604020202020204" pitchFamily="34" charset="0"/>
                <a:cs typeface="Arial" panose="020B0604020202020204" pitchFamily="34" charset="0"/>
              </a:rPr>
              <a:t>y_start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radius=20,</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cross_section</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xs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return c</a:t>
            </a: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anillo</a:t>
            </a:r>
            <a:r>
              <a:rPr lang="en-US" sz="1000" dirty="0">
                <a:latin typeface="Arial" panose="020B0604020202020204" pitchFamily="34" charset="0"/>
                <a:cs typeface="Arial" panose="020B0604020202020204" pitchFamily="34" charset="0"/>
              </a:rPr>
              <a:t> = ring(</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extra_length</a:t>
            </a:r>
            <a:r>
              <a:rPr lang="en-US" sz="1000" dirty="0">
                <a:latin typeface="Arial" panose="020B0604020202020204" pitchFamily="34" charset="0"/>
                <a:cs typeface="Arial" panose="020B0604020202020204" pitchFamily="34" charset="0"/>
              </a:rPr>
              <a:t>=80.0</a:t>
            </a:r>
          </a:p>
          <a:p>
            <a:pPr algn="just"/>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anillo.draw_ports</a:t>
            </a:r>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anillo.plot</a:t>
            </a:r>
            <a:r>
              <a:rPr lang="en-US" sz="1000" dirty="0">
                <a:latin typeface="Arial" panose="020B0604020202020204" pitchFamily="34" charset="0"/>
                <a:cs typeface="Arial" panose="020B0604020202020204" pitchFamily="34" charset="0"/>
              </a:rPr>
              <a:t>()</a:t>
            </a:r>
          </a:p>
          <a:p>
            <a:endParaRPr lang="es-ES" dirty="0"/>
          </a:p>
        </p:txBody>
      </p:sp>
    </p:spTree>
    <p:extLst>
      <p:ext uri="{BB962C8B-B14F-4D97-AF65-F5344CB8AC3E}">
        <p14:creationId xmlns:p14="http://schemas.microsoft.com/office/powerpoint/2010/main" val="1232161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2B2E5680-4D62-4379-FD0E-F58F3E1861AC}"/>
              </a:ext>
            </a:extLst>
          </p:cNvPr>
          <p:cNvSpPr>
            <a:spLocks noGrp="1"/>
          </p:cNvSpPr>
          <p:nvPr>
            <p:ph type="sldNum" sz="quarter" idx="7"/>
          </p:nvPr>
        </p:nvSpPr>
        <p:spPr/>
        <p:txBody>
          <a:bodyPr/>
          <a:lstStyle/>
          <a:p>
            <a:fld id="{B6F15528-21DE-4FAA-801E-634DDDAF4B2B}" type="slidenum">
              <a:rPr lang="es-ES" smtClean="0"/>
              <a:t>19</a:t>
            </a:fld>
            <a:endParaRPr lang="es-ES"/>
          </a:p>
        </p:txBody>
      </p:sp>
      <p:pic>
        <p:nvPicPr>
          <p:cNvPr id="7" name="Imagen 6">
            <a:extLst>
              <a:ext uri="{FF2B5EF4-FFF2-40B4-BE49-F238E27FC236}">
                <a16:creationId xmlns:a16="http://schemas.microsoft.com/office/drawing/2014/main" id="{30AA7E06-70A4-4FD1-57C8-0FC79590195B}"/>
              </a:ext>
            </a:extLst>
          </p:cNvPr>
          <p:cNvPicPr>
            <a:picLocks noChangeAspect="1"/>
          </p:cNvPicPr>
          <p:nvPr/>
        </p:nvPicPr>
        <p:blipFill>
          <a:blip r:embed="rId2"/>
          <a:stretch>
            <a:fillRect/>
          </a:stretch>
        </p:blipFill>
        <p:spPr>
          <a:xfrm>
            <a:off x="1767699" y="457200"/>
            <a:ext cx="8656601" cy="6512771"/>
          </a:xfrm>
          <a:prstGeom prst="rect">
            <a:avLst/>
          </a:prstGeom>
        </p:spPr>
      </p:pic>
    </p:spTree>
    <p:extLst>
      <p:ext uri="{BB962C8B-B14F-4D97-AF65-F5344CB8AC3E}">
        <p14:creationId xmlns:p14="http://schemas.microsoft.com/office/powerpoint/2010/main" val="3906060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F3547-AB6D-C8CE-26A6-85720580F35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F50F0C9-A905-7E87-8AEB-C069C26ABD45}"/>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C70240A2-37EF-CF80-E014-0AF0711173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E3B05B6-6C3B-9B15-9B85-17ECE92473EE}"/>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7C828B13-661D-938F-48FD-E475602B301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92F1C9D2-99E1-CAC5-BC20-33B79B4AC8DD}"/>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#Create a cell component based on the previous, where the ring has a thermal tuner on top along all the perimeter</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@gf.cell</a:t>
            </a:r>
          </a:p>
          <a:p>
            <a:pPr algn="just"/>
            <a:r>
              <a:rPr lang="en-US" sz="1200" b="1" dirty="0">
                <a:latin typeface="Arial" panose="020B0604020202020204" pitchFamily="34" charset="0"/>
                <a:cs typeface="Arial" panose="020B0604020202020204" pitchFamily="34" charset="0"/>
              </a:rPr>
              <a:t>def </a:t>
            </a:r>
            <a:r>
              <a:rPr lang="en-US" sz="1200" b="1" dirty="0" err="1">
                <a:latin typeface="Arial" panose="020B0604020202020204" pitchFamily="34" charset="0"/>
                <a:cs typeface="Arial" panose="020B0604020202020204" pitchFamily="34" charset="0"/>
              </a:rPr>
              <a:t>ring_heater</a:t>
            </a:r>
            <a:r>
              <a:rPr lang="en-US" sz="1200" b="1" dirty="0">
                <a:latin typeface="Arial" panose="020B0604020202020204" pitchFamily="34" charset="0"/>
                <a:cs typeface="Arial" panose="020B0604020202020204" pitchFamily="34" charset="0"/>
              </a:rPr>
              <a:t>():</a:t>
            </a:r>
          </a:p>
          <a:p>
            <a:pPr algn="just"/>
            <a:r>
              <a:rPr lang="en-US" sz="1200" b="1" dirty="0">
                <a:latin typeface="Arial" panose="020B0604020202020204" pitchFamily="34" charset="0"/>
                <a:cs typeface="Arial" panose="020B0604020202020204" pitchFamily="34" charset="0"/>
              </a:rPr>
              <a:t>    </a:t>
            </a:r>
          </a:p>
          <a:p>
            <a:pPr algn="just"/>
            <a:r>
              <a:rPr lang="en-US" sz="1200" b="1" dirty="0">
                <a:latin typeface="Arial" panose="020B0604020202020204" pitchFamily="34" charset="0"/>
                <a:cs typeface="Arial" panose="020B0604020202020204" pitchFamily="34" charset="0"/>
              </a:rPr>
              <a:t>    c = </a:t>
            </a:r>
            <a:r>
              <a:rPr lang="en-US" sz="1200" b="1" dirty="0" err="1">
                <a:latin typeface="Arial" panose="020B0604020202020204" pitchFamily="34" charset="0"/>
                <a:cs typeface="Arial" panose="020B0604020202020204" pitchFamily="34" charset="0"/>
              </a:rPr>
              <a:t>gf.Component</a:t>
            </a:r>
            <a:r>
              <a:rPr lang="en-US" sz="1200" b="1" dirty="0">
                <a:latin typeface="Arial" panose="020B0604020202020204" pitchFamily="34" charset="0"/>
                <a:cs typeface="Arial" panose="020B0604020202020204" pitchFamily="34" charset="0"/>
              </a:rPr>
              <a:t>()</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anillo</a:t>
            </a:r>
            <a:r>
              <a:rPr lang="en-US" sz="1200" b="1" dirty="0">
                <a:latin typeface="Arial" panose="020B0604020202020204" pitchFamily="34" charset="0"/>
                <a:cs typeface="Arial" panose="020B0604020202020204" pitchFamily="34" charset="0"/>
              </a:rPr>
              <a:t> = ring(</a:t>
            </a:r>
            <a:r>
              <a:rPr lang="en-US" sz="1200" b="1" dirty="0" err="1">
                <a:latin typeface="Arial" panose="020B0604020202020204" pitchFamily="34" charset="0"/>
                <a:cs typeface="Arial" panose="020B0604020202020204" pitchFamily="34" charset="0"/>
              </a:rPr>
              <a:t>extra_length</a:t>
            </a:r>
            <a:r>
              <a:rPr lang="en-US" sz="1200" b="1" dirty="0">
                <a:latin typeface="Arial" panose="020B0604020202020204" pitchFamily="34" charset="0"/>
                <a:cs typeface="Arial" panose="020B0604020202020204" pitchFamily="34" charset="0"/>
              </a:rPr>
              <a:t>=80)</a:t>
            </a:r>
          </a:p>
          <a:p>
            <a:pPr algn="just"/>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anillo_ref</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c.add_ref</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anillo</a:t>
            </a:r>
            <a:r>
              <a:rPr lang="en-US" sz="1200" b="1" dirty="0">
                <a:latin typeface="Arial" panose="020B0604020202020204" pitchFamily="34" charset="0"/>
                <a:cs typeface="Arial" panose="020B0604020202020204" pitchFamily="34" charset="0"/>
              </a:rPr>
              <a:t>)</a:t>
            </a:r>
          </a:p>
          <a:p>
            <a:pPr algn="just"/>
            <a:r>
              <a:rPr lang="en-US" sz="1200" b="1" dirty="0">
                <a:latin typeface="Arial" panose="020B0604020202020204" pitchFamily="34" charset="0"/>
                <a:cs typeface="Arial" panose="020B0604020202020204" pitchFamily="34" charset="0"/>
              </a:rPr>
              <a:t>    heater = </a:t>
            </a:r>
            <a:r>
              <a:rPr lang="en-US" sz="1200" b="1" dirty="0" err="1">
                <a:latin typeface="Arial" panose="020B0604020202020204" pitchFamily="34" charset="0"/>
                <a:cs typeface="Arial" panose="020B0604020202020204" pitchFamily="34" charset="0"/>
              </a:rPr>
              <a:t>c.add_ref</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cells.straight_heater_metal</a:t>
            </a:r>
            <a:r>
              <a:rPr lang="en-US" sz="1200" b="1" dirty="0">
                <a:latin typeface="Arial" panose="020B0604020202020204" pitchFamily="34" charset="0"/>
                <a:cs typeface="Arial" panose="020B0604020202020204" pitchFamily="34" charset="0"/>
              </a:rPr>
              <a:t>(length=150))</a:t>
            </a:r>
          </a:p>
          <a:p>
            <a:pPr algn="just"/>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heater.dmovex</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anillo.dx</a:t>
            </a:r>
            <a:r>
              <a:rPr lang="en-US" sz="1200" b="1" dirty="0">
                <a:latin typeface="Arial" panose="020B0604020202020204" pitchFamily="34" charset="0"/>
                <a:cs typeface="Arial" panose="020B0604020202020204" pitchFamily="34" charset="0"/>
              </a:rPr>
              <a:t> - 150 / 2)</a:t>
            </a:r>
          </a:p>
          <a:p>
            <a:pPr algn="just"/>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heater.dmovey</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anillo.dymax</a:t>
            </a:r>
            <a:r>
              <a:rPr lang="en-US" sz="1200" b="1" dirty="0">
                <a:latin typeface="Arial" panose="020B0604020202020204" pitchFamily="34" charset="0"/>
                <a:cs typeface="Arial" panose="020B0604020202020204" pitchFamily="34" charset="0"/>
              </a:rPr>
              <a:t> - 1.2) </a:t>
            </a:r>
          </a:p>
          <a:p>
            <a:pPr algn="just"/>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c.add_port</a:t>
            </a:r>
            <a:r>
              <a:rPr lang="en-US" sz="1200" b="1" dirty="0">
                <a:latin typeface="Arial" panose="020B0604020202020204" pitchFamily="34" charset="0"/>
                <a:cs typeface="Arial" panose="020B0604020202020204" pitchFamily="34" charset="0"/>
              </a:rPr>
              <a:t>(name='p1', port=</a:t>
            </a:r>
            <a:r>
              <a:rPr lang="en-US" sz="1200" b="1" dirty="0" err="1">
                <a:latin typeface="Arial" panose="020B0604020202020204" pitchFamily="34" charset="0"/>
                <a:cs typeface="Arial" panose="020B0604020202020204" pitchFamily="34" charset="0"/>
              </a:rPr>
              <a:t>anillo</a:t>
            </a:r>
            <a:r>
              <a:rPr lang="en-US" sz="1200" b="1" dirty="0">
                <a:latin typeface="Arial" panose="020B0604020202020204" pitchFamily="34" charset="0"/>
                <a:cs typeface="Arial" panose="020B0604020202020204" pitchFamily="34" charset="0"/>
              </a:rPr>
              <a:t>['in0'])</a:t>
            </a:r>
          </a:p>
          <a:p>
            <a:pPr algn="just"/>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c.add_port</a:t>
            </a:r>
            <a:r>
              <a:rPr lang="en-US" sz="1200" b="1" dirty="0">
                <a:latin typeface="Arial" panose="020B0604020202020204" pitchFamily="34" charset="0"/>
                <a:cs typeface="Arial" panose="020B0604020202020204" pitchFamily="34" charset="0"/>
              </a:rPr>
              <a:t>(name='p2', port=</a:t>
            </a:r>
            <a:r>
              <a:rPr lang="en-US" sz="1200" b="1" dirty="0" err="1">
                <a:latin typeface="Arial" panose="020B0604020202020204" pitchFamily="34" charset="0"/>
                <a:cs typeface="Arial" panose="020B0604020202020204" pitchFamily="34" charset="0"/>
              </a:rPr>
              <a:t>anillo</a:t>
            </a:r>
            <a:r>
              <a:rPr lang="en-US" sz="1200" b="1" dirty="0">
                <a:latin typeface="Arial" panose="020B0604020202020204" pitchFamily="34" charset="0"/>
                <a:cs typeface="Arial" panose="020B0604020202020204" pitchFamily="34" charset="0"/>
              </a:rPr>
              <a:t>['out0'])</a:t>
            </a:r>
          </a:p>
          <a:p>
            <a:pPr algn="just"/>
            <a:r>
              <a:rPr lang="en-US" sz="1200" b="1" dirty="0">
                <a:latin typeface="Arial" panose="020B0604020202020204" pitchFamily="34" charset="0"/>
                <a:cs typeface="Arial" panose="020B0604020202020204" pitchFamily="34" charset="0"/>
              </a:rPr>
              <a:t>    </a:t>
            </a:r>
          </a:p>
          <a:p>
            <a:pPr algn="just"/>
            <a:r>
              <a:rPr lang="en-US" sz="1200" b="1" dirty="0">
                <a:latin typeface="Arial" panose="020B0604020202020204" pitchFamily="34" charset="0"/>
                <a:cs typeface="Arial" panose="020B0604020202020204" pitchFamily="34" charset="0"/>
              </a:rPr>
              <a:t>    </a:t>
            </a:r>
            <a:r>
              <a:rPr lang="en-US" sz="1200" b="1" dirty="0" err="1">
                <a:latin typeface="Arial" panose="020B0604020202020204" pitchFamily="34" charset="0"/>
                <a:cs typeface="Arial" panose="020B0604020202020204" pitchFamily="34" charset="0"/>
              </a:rPr>
              <a:t>c.draw_ports</a:t>
            </a:r>
            <a:r>
              <a:rPr lang="en-US" sz="1200" b="1" dirty="0">
                <a:latin typeface="Arial" panose="020B0604020202020204" pitchFamily="34" charset="0"/>
                <a:cs typeface="Arial" panose="020B0604020202020204" pitchFamily="34" charset="0"/>
              </a:rPr>
              <a:t>()</a:t>
            </a:r>
          </a:p>
          <a:p>
            <a:pPr algn="just"/>
            <a:r>
              <a:rPr lang="en-US" sz="1200" b="1" dirty="0">
                <a:latin typeface="Arial" panose="020B0604020202020204" pitchFamily="34" charset="0"/>
                <a:cs typeface="Arial" panose="020B0604020202020204" pitchFamily="34" charset="0"/>
              </a:rPr>
              <a:t>    return c</a:t>
            </a:r>
          </a:p>
          <a:p>
            <a:pPr algn="just"/>
            <a:endParaRPr lang="en-US" sz="1200" b="1" dirty="0">
              <a:latin typeface="Arial" panose="020B0604020202020204" pitchFamily="34" charset="0"/>
              <a:cs typeface="Arial" panose="020B0604020202020204" pitchFamily="34" charset="0"/>
            </a:endParaRPr>
          </a:p>
          <a:p>
            <a:pPr algn="just"/>
            <a:endParaRPr lang="en-US" sz="1200" b="1" dirty="0">
              <a:latin typeface="Arial" panose="020B0604020202020204" pitchFamily="34" charset="0"/>
              <a:cs typeface="Arial" panose="020B0604020202020204" pitchFamily="34" charset="0"/>
            </a:endParaRPr>
          </a:p>
          <a:p>
            <a:pPr algn="just"/>
            <a:r>
              <a:rPr lang="en-US" sz="1200" b="1" dirty="0" err="1">
                <a:latin typeface="Arial" panose="020B0604020202020204" pitchFamily="34" charset="0"/>
                <a:cs typeface="Arial" panose="020B0604020202020204" pitchFamily="34" charset="0"/>
              </a:rPr>
              <a:t>gf.clear_cache</a:t>
            </a:r>
            <a:r>
              <a:rPr lang="en-US" sz="1200" b="1" dirty="0">
                <a:latin typeface="Arial" panose="020B0604020202020204" pitchFamily="34" charset="0"/>
                <a:cs typeface="Arial" panose="020B0604020202020204" pitchFamily="34" charset="0"/>
              </a:rPr>
              <a:t>()</a:t>
            </a:r>
          </a:p>
          <a:p>
            <a:pPr algn="just"/>
            <a:endParaRPr lang="en-US" sz="1200" b="1" dirty="0">
              <a:latin typeface="Arial" panose="020B0604020202020204" pitchFamily="34" charset="0"/>
              <a:cs typeface="Arial" panose="020B0604020202020204" pitchFamily="34" charset="0"/>
            </a:endParaRP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c = </a:t>
            </a:r>
            <a:r>
              <a:rPr lang="en-US" sz="1200" b="1" dirty="0" err="1">
                <a:latin typeface="Arial" panose="020B0604020202020204" pitchFamily="34" charset="0"/>
                <a:cs typeface="Arial" panose="020B0604020202020204" pitchFamily="34" charset="0"/>
              </a:rPr>
              <a:t>ring_heater</a:t>
            </a:r>
            <a:r>
              <a:rPr lang="en-US" sz="1200" b="1" dirty="0">
                <a:latin typeface="Arial" panose="020B0604020202020204" pitchFamily="34" charset="0"/>
                <a:cs typeface="Arial" panose="020B0604020202020204" pitchFamily="34" charset="0"/>
              </a:rPr>
              <a:t>()</a:t>
            </a:r>
          </a:p>
          <a:p>
            <a:pPr algn="just"/>
            <a:r>
              <a:rPr lang="en-US" sz="1200" b="1" dirty="0" err="1">
                <a:latin typeface="Arial" panose="020B0604020202020204" pitchFamily="34" charset="0"/>
                <a:cs typeface="Arial" panose="020B0604020202020204" pitchFamily="34" charset="0"/>
              </a:rPr>
              <a:t>c.plot</a:t>
            </a:r>
            <a:r>
              <a:rPr lang="en-US" sz="1200" b="1" dirty="0">
                <a:latin typeface="Arial" panose="020B0604020202020204" pitchFamily="34" charset="0"/>
                <a:cs typeface="Arial" panose="020B0604020202020204" pitchFamily="34" charset="0"/>
              </a:rPr>
              <a:t>()</a:t>
            </a:r>
          </a:p>
          <a:p>
            <a:pPr algn="just"/>
            <a:r>
              <a:rPr lang="en-US" sz="1200" b="1" dirty="0" err="1">
                <a:latin typeface="Arial" panose="020B0604020202020204" pitchFamily="34" charset="0"/>
                <a:cs typeface="Arial" panose="020B0604020202020204" pitchFamily="34" charset="0"/>
              </a:rPr>
              <a:t>c.show</a:t>
            </a:r>
            <a:r>
              <a:rPr lang="en-US" sz="1200" b="1"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D6F87519-E6B6-5424-E03A-1260B1A0E19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6A73776-54C9-9939-8FC7-72ED3E71CD6E}"/>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24D6F267-7BF0-E130-2475-82EA828ADF55}"/>
              </a:ext>
            </a:extLst>
          </p:cNvPr>
          <p:cNvPicPr>
            <a:picLocks noChangeAspect="1"/>
          </p:cNvPicPr>
          <p:nvPr/>
        </p:nvPicPr>
        <p:blipFill>
          <a:blip r:embed="rId4"/>
          <a:stretch>
            <a:fillRect/>
          </a:stretch>
        </p:blipFill>
        <p:spPr>
          <a:xfrm>
            <a:off x="6400800" y="1153904"/>
            <a:ext cx="6424217" cy="4854361"/>
          </a:xfrm>
          <a:prstGeom prst="rect">
            <a:avLst/>
          </a:prstGeom>
        </p:spPr>
      </p:pic>
    </p:spTree>
    <p:extLst>
      <p:ext uri="{BB962C8B-B14F-4D97-AF65-F5344CB8AC3E}">
        <p14:creationId xmlns:p14="http://schemas.microsoft.com/office/powerpoint/2010/main" val="2405870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77E42-683D-AB93-1492-6E9B7BF41F8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D5F2360-70E5-1C58-0803-5A8E6167521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D928416-324F-9391-D93E-371796E8B7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AC93C18-E06E-5BEE-93F4-4808C4C4212F}"/>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69CFC4C8-B02C-5954-B0FE-094BAF62380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295AAEAF-6B3B-BEFB-353B-C958EE499C00}"/>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a:latin typeface="Arial" panose="020B0604020202020204" pitchFamily="34" charset="0"/>
                <a:cs typeface="Arial" panose="020B0604020202020204" pitchFamily="34" charset="0"/>
              </a:rPr>
              <a:t>#Create a cell component based on existing GDSfactory spiral components, with length as parameter</a:t>
            </a:r>
          </a:p>
          <a:p>
            <a:pPr algn="just"/>
            <a:endParaRPr lang="en-US" sz="1200" b="1">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@gf.cell</a:t>
            </a:r>
          </a:p>
          <a:p>
            <a:pPr algn="just"/>
            <a:r>
              <a:rPr lang="en-US" sz="1200" b="1">
                <a:latin typeface="Arial" panose="020B0604020202020204" pitchFamily="34" charset="0"/>
                <a:cs typeface="Arial" panose="020B0604020202020204" pitchFamily="34" charset="0"/>
              </a:rPr>
              <a:t>def spiral(length=100.0, n_loops=6, spacing=10.0, width=0.5):</a:t>
            </a:r>
          </a:p>
          <a:p>
            <a:pPr algn="just"/>
            <a:r>
              <a:rPr lang="en-US" sz="1200" b="1">
                <a:latin typeface="Arial" panose="020B0604020202020204" pitchFamily="34" charset="0"/>
                <a:cs typeface="Arial" panose="020B0604020202020204" pitchFamily="34" charset="0"/>
              </a:rPr>
              <a:t>    c = gf.Component()</a:t>
            </a:r>
          </a:p>
          <a:p>
            <a:pPr algn="just"/>
            <a:endParaRPr lang="en-US" sz="1200" b="1">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    xs_spiral = gf.get_cross_section("strip", width=width)</a:t>
            </a:r>
          </a:p>
          <a:p>
            <a:pPr algn="just"/>
            <a:endParaRPr lang="en-US" sz="1200" b="1">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    spiral= gf.components.spiral(</a:t>
            </a:r>
          </a:p>
          <a:p>
            <a:pPr algn="just"/>
            <a:r>
              <a:rPr lang="en-US" sz="1200" b="1">
                <a:latin typeface="Arial" panose="020B0604020202020204" pitchFamily="34" charset="0"/>
                <a:cs typeface="Arial" panose="020B0604020202020204" pitchFamily="34" charset="0"/>
              </a:rPr>
              <a:t>        length=length,</a:t>
            </a:r>
          </a:p>
          <a:p>
            <a:pPr algn="just"/>
            <a:r>
              <a:rPr lang="en-US" sz="1200" b="1">
                <a:latin typeface="Arial" panose="020B0604020202020204" pitchFamily="34" charset="0"/>
                <a:cs typeface="Arial" panose="020B0604020202020204" pitchFamily="34" charset="0"/>
              </a:rPr>
              <a:t>        n_loops=n_loops,</a:t>
            </a:r>
          </a:p>
          <a:p>
            <a:pPr algn="just"/>
            <a:r>
              <a:rPr lang="en-US" sz="1200" b="1">
                <a:latin typeface="Arial" panose="020B0604020202020204" pitchFamily="34" charset="0"/>
                <a:cs typeface="Arial" panose="020B0604020202020204" pitchFamily="34" charset="0"/>
              </a:rPr>
              <a:t>        spacing=spacing,</a:t>
            </a:r>
          </a:p>
          <a:p>
            <a:pPr algn="just"/>
            <a:r>
              <a:rPr lang="en-US" sz="1200" b="1">
                <a:latin typeface="Arial" panose="020B0604020202020204" pitchFamily="34" charset="0"/>
                <a:cs typeface="Arial" panose="020B0604020202020204" pitchFamily="34" charset="0"/>
              </a:rPr>
              <a:t>        cross_section=xs_spiral,</a:t>
            </a:r>
          </a:p>
          <a:p>
            <a:pPr algn="just"/>
            <a:r>
              <a:rPr lang="en-US" sz="1200" b="1">
                <a:latin typeface="Arial" panose="020B0604020202020204" pitchFamily="34" charset="0"/>
                <a:cs typeface="Arial" panose="020B0604020202020204" pitchFamily="34" charset="0"/>
              </a:rPr>
              <a:t>        straight=gf.components.straight,</a:t>
            </a:r>
          </a:p>
          <a:p>
            <a:pPr algn="just"/>
            <a:r>
              <a:rPr lang="en-US" sz="1200" b="1">
                <a:latin typeface="Arial" panose="020B0604020202020204" pitchFamily="34" charset="0"/>
                <a:cs typeface="Arial" panose="020B0604020202020204" pitchFamily="34" charset="0"/>
              </a:rPr>
              <a:t>        bend=gf.components.bend_euler,</a:t>
            </a:r>
          </a:p>
          <a:p>
            <a:pPr algn="just"/>
            <a:r>
              <a:rPr lang="en-US" sz="1200" b="1">
                <a:latin typeface="Arial" panose="020B0604020202020204" pitchFamily="34" charset="0"/>
                <a:cs typeface="Arial" panose="020B0604020202020204" pitchFamily="34" charset="0"/>
              </a:rPr>
              <a:t>    )</a:t>
            </a:r>
          </a:p>
          <a:p>
            <a:pPr algn="just"/>
            <a:endParaRPr lang="en-US" sz="1200" b="1">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    spiral_ref = c.add_ref(spiral)</a:t>
            </a:r>
          </a:p>
          <a:p>
            <a:pPr algn="just"/>
            <a:r>
              <a:rPr lang="en-US" sz="1200" b="1">
                <a:latin typeface="Arial" panose="020B0604020202020204" pitchFamily="34" charset="0"/>
                <a:cs typeface="Arial" panose="020B0604020202020204" pitchFamily="34" charset="0"/>
              </a:rPr>
              <a:t>    c.add_ports(spiral_ref.ports)</a:t>
            </a:r>
          </a:p>
          <a:p>
            <a:pPr algn="just"/>
            <a:endParaRPr lang="en-US" sz="1200" b="1">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    return c</a:t>
            </a:r>
          </a:p>
          <a:p>
            <a:pPr algn="just"/>
            <a:endParaRPr lang="en-US" sz="1200" b="1">
              <a:latin typeface="Arial" panose="020B0604020202020204" pitchFamily="34" charset="0"/>
              <a:cs typeface="Arial" panose="020B0604020202020204" pitchFamily="34" charset="0"/>
            </a:endParaRPr>
          </a:p>
          <a:p>
            <a:pPr algn="just"/>
            <a:endParaRPr lang="en-US" sz="1200" b="1">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c = spiral(length=100.0,n_loops=6,spacing=10.0,width=0.5)</a:t>
            </a:r>
          </a:p>
          <a:p>
            <a:pPr algn="just"/>
            <a:endParaRPr lang="en-US" sz="1200" b="1">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c.plot()</a:t>
            </a:r>
          </a:p>
          <a:p>
            <a:pPr algn="just"/>
            <a:r>
              <a:rPr lang="en-US" sz="1200" b="1">
                <a:latin typeface="Arial" panose="020B0604020202020204" pitchFamily="34" charset="0"/>
                <a:cs typeface="Arial" panose="020B0604020202020204" pitchFamily="34" charset="0"/>
              </a:rPr>
              <a:t>c.show()</a:t>
            </a:r>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E93CB08-F41C-E5DE-21F3-97E15508481B}"/>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73B2BBD2-9F4C-CE19-7656-582080278411}"/>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795CAAC3-8896-902E-FFFB-C39938E57D48}"/>
              </a:ext>
            </a:extLst>
          </p:cNvPr>
          <p:cNvPicPr>
            <a:picLocks noChangeAspect="1"/>
          </p:cNvPicPr>
          <p:nvPr/>
        </p:nvPicPr>
        <p:blipFill>
          <a:blip r:embed="rId4"/>
          <a:stretch>
            <a:fillRect/>
          </a:stretch>
        </p:blipFill>
        <p:spPr>
          <a:xfrm>
            <a:off x="6248400" y="1115801"/>
            <a:ext cx="6492803" cy="4930567"/>
          </a:xfrm>
          <a:prstGeom prst="rect">
            <a:avLst/>
          </a:prstGeom>
        </p:spPr>
      </p:pic>
    </p:spTree>
    <p:extLst>
      <p:ext uri="{BB962C8B-B14F-4D97-AF65-F5344CB8AC3E}">
        <p14:creationId xmlns:p14="http://schemas.microsoft.com/office/powerpoint/2010/main" val="2752990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8E348-57C7-4216-4FAB-63FE9EBA4EF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6DAFCEB-F809-9A56-8346-17FB4959A41A}"/>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8028B10-8CB8-75AE-6602-323189BD12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35CD80D-0215-34C9-7822-35912D2E2041}"/>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8ECF4E23-95A1-8ECA-4CEC-DB28BEC205E3}"/>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BA727004-347F-3E91-A782-DFF03765D6F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 Create a die  W = 5 mm x L = 10 mm </a:t>
            </a:r>
          </a:p>
          <a:p>
            <a:pPr algn="just"/>
            <a:endParaRPr lang="en-US" sz="1200" b="1" dirty="0">
              <a:latin typeface="Arial" panose="020B0604020202020204" pitchFamily="34" charset="0"/>
              <a:cs typeface="Arial" panose="020B0604020202020204" pitchFamily="34" charset="0"/>
            </a:endParaRPr>
          </a:p>
          <a:p>
            <a:pPr algn="just"/>
            <a:r>
              <a:rPr lang="en-US" sz="1200" b="1" dirty="0" err="1">
                <a:latin typeface="Arial" panose="020B0604020202020204" pitchFamily="34" charset="0"/>
                <a:cs typeface="Arial" panose="020B0604020202020204" pitchFamily="34" charset="0"/>
              </a:rPr>
              <a:t>wgw</a:t>
            </a:r>
            <a:r>
              <a:rPr lang="en-US" sz="1200" b="1" dirty="0">
                <a:latin typeface="Arial" panose="020B0604020202020204" pitchFamily="34" charset="0"/>
                <a:cs typeface="Arial" panose="020B0604020202020204" pitchFamily="34" charset="0"/>
              </a:rPr>
              <a:t> = 0.5</a:t>
            </a:r>
          </a:p>
          <a:p>
            <a:pPr algn="just"/>
            <a:r>
              <a:rPr lang="en-US" sz="1200" b="1" dirty="0" err="1">
                <a:latin typeface="Arial" panose="020B0604020202020204" pitchFamily="34" charset="0"/>
                <a:cs typeface="Arial" panose="020B0604020202020204" pitchFamily="34" charset="0"/>
              </a:rPr>
              <a:t>dieL</a:t>
            </a:r>
            <a:r>
              <a:rPr lang="en-US" sz="1200" b="1" dirty="0">
                <a:latin typeface="Arial" panose="020B0604020202020204" pitchFamily="34" charset="0"/>
                <a:cs typeface="Arial" panose="020B0604020202020204" pitchFamily="34" charset="0"/>
              </a:rPr>
              <a:t>=10000</a:t>
            </a:r>
          </a:p>
          <a:p>
            <a:pPr algn="just"/>
            <a:r>
              <a:rPr lang="en-US" sz="1200" b="1" dirty="0" err="1">
                <a:latin typeface="Arial" panose="020B0604020202020204" pitchFamily="34" charset="0"/>
                <a:cs typeface="Arial" panose="020B0604020202020204" pitchFamily="34" charset="0"/>
              </a:rPr>
              <a:t>dieW</a:t>
            </a:r>
            <a:r>
              <a:rPr lang="en-US" sz="1200" b="1" dirty="0">
                <a:latin typeface="Arial" panose="020B0604020202020204" pitchFamily="34" charset="0"/>
                <a:cs typeface="Arial" panose="020B0604020202020204" pitchFamily="34" charset="0"/>
              </a:rPr>
              <a:t> = 5000</a:t>
            </a:r>
          </a:p>
          <a:p>
            <a:pPr algn="just"/>
            <a:r>
              <a:rPr lang="en-US" sz="1200" b="1" dirty="0">
                <a:latin typeface="Arial" panose="020B0604020202020204" pitchFamily="34" charset="0"/>
                <a:cs typeface="Arial" panose="020B0604020202020204" pitchFamily="34" charset="0"/>
              </a:rPr>
              <a:t>#border = 125</a:t>
            </a:r>
          </a:p>
          <a:p>
            <a:pPr algn="just"/>
            <a:r>
              <a:rPr lang="en-US" sz="1200" b="1" dirty="0">
                <a:latin typeface="Arial" panose="020B0604020202020204" pitchFamily="34" charset="0"/>
                <a:cs typeface="Arial" panose="020B0604020202020204" pitchFamily="34" charset="0"/>
              </a:rPr>
              <a:t>border = 125</a:t>
            </a:r>
          </a:p>
          <a:p>
            <a:pPr algn="just"/>
            <a:r>
              <a:rPr lang="en-US" sz="1200" b="1" dirty="0" err="1">
                <a:latin typeface="Arial" panose="020B0604020202020204" pitchFamily="34" charset="0"/>
                <a:cs typeface="Arial" panose="020B0604020202020204" pitchFamily="34" charset="0"/>
              </a:rPr>
              <a:t>layer_wg</a:t>
            </a:r>
            <a:r>
              <a:rPr lang="en-US" sz="1200" b="1" dirty="0">
                <a:latin typeface="Arial" panose="020B0604020202020204" pitchFamily="34" charset="0"/>
                <a:cs typeface="Arial" panose="020B0604020202020204" pitchFamily="34" charset="0"/>
              </a:rPr>
              <a:t> = "WG"</a:t>
            </a:r>
          </a:p>
          <a:p>
            <a:pPr algn="just"/>
            <a:r>
              <a:rPr lang="en-US" sz="1200" b="1" dirty="0" err="1">
                <a:latin typeface="Arial" panose="020B0604020202020204" pitchFamily="34" charset="0"/>
                <a:cs typeface="Arial" panose="020B0604020202020204" pitchFamily="34" charset="0"/>
              </a:rPr>
              <a:t>layer_box</a:t>
            </a:r>
            <a:r>
              <a:rPr lang="en-US" sz="1200" b="1" dirty="0">
                <a:latin typeface="Arial" panose="020B0604020202020204" pitchFamily="34" charset="0"/>
                <a:cs typeface="Arial" panose="020B0604020202020204" pitchFamily="34" charset="0"/>
              </a:rPr>
              <a:t> = "FLOORPLAN"</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 Die specifications (die)</a:t>
            </a:r>
          </a:p>
          <a:p>
            <a:pPr algn="just"/>
            <a:r>
              <a:rPr lang="en-US" sz="1200" b="1" dirty="0">
                <a:latin typeface="Arial" panose="020B0604020202020204" pitchFamily="34" charset="0"/>
                <a:cs typeface="Arial" panose="020B0604020202020204" pitchFamily="34" charset="0"/>
              </a:rPr>
              <a:t>box = </a:t>
            </a:r>
            <a:r>
              <a:rPr lang="en-US" sz="1200" b="1" dirty="0" err="1">
                <a:latin typeface="Arial" panose="020B0604020202020204" pitchFamily="34" charset="0"/>
                <a:cs typeface="Arial" panose="020B0604020202020204" pitchFamily="34" charset="0"/>
              </a:rPr>
              <a:t>gf.Component</a:t>
            </a:r>
            <a:r>
              <a:rPr lang="en-US" sz="1200" b="1" dirty="0">
                <a:latin typeface="Arial" panose="020B0604020202020204" pitchFamily="34" charset="0"/>
                <a:cs typeface="Arial" panose="020B0604020202020204" pitchFamily="34" charset="0"/>
              </a:rPr>
              <a:t>()</a:t>
            </a:r>
          </a:p>
          <a:p>
            <a:pPr algn="just"/>
            <a:endParaRPr lang="en-US" sz="1200" b="1" dirty="0">
              <a:latin typeface="Arial" panose="020B0604020202020204" pitchFamily="34" charset="0"/>
              <a:cs typeface="Arial" panose="020B0604020202020204" pitchFamily="34" charset="0"/>
            </a:endParaRPr>
          </a:p>
          <a:p>
            <a:pPr algn="just"/>
            <a:r>
              <a:rPr lang="en-US" sz="1200" b="1" dirty="0" err="1">
                <a:latin typeface="Arial" panose="020B0604020202020204" pitchFamily="34" charset="0"/>
                <a:cs typeface="Arial" panose="020B0604020202020204" pitchFamily="34" charset="0"/>
              </a:rPr>
              <a:t>obox</a:t>
            </a:r>
            <a:r>
              <a:rPr lang="en-US" sz="1200" b="1" dirty="0">
                <a:latin typeface="Arial" panose="020B0604020202020204" pitchFamily="34" charset="0"/>
                <a:cs typeface="Arial" panose="020B0604020202020204" pitchFamily="34" charset="0"/>
              </a:rPr>
              <a:t> = </a:t>
            </a:r>
            <a:r>
              <a:rPr lang="en-US" sz="1200" b="1" dirty="0" err="1">
                <a:latin typeface="Arial" panose="020B0604020202020204" pitchFamily="34" charset="0"/>
                <a:cs typeface="Arial" panose="020B0604020202020204" pitchFamily="34" charset="0"/>
              </a:rPr>
              <a:t>box.add_ref</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gf.components.rectangle</a:t>
            </a:r>
            <a:r>
              <a:rPr lang="en-US" sz="1200" b="1" dirty="0">
                <a:latin typeface="Arial" panose="020B0604020202020204" pitchFamily="34" charset="0"/>
                <a:cs typeface="Arial" panose="020B0604020202020204" pitchFamily="34" charset="0"/>
              </a:rPr>
              <a:t>(size=(</a:t>
            </a:r>
            <a:r>
              <a:rPr lang="en-US" sz="1200" b="1" dirty="0" err="1">
                <a:latin typeface="Arial" panose="020B0604020202020204" pitchFamily="34" charset="0"/>
                <a:cs typeface="Arial" panose="020B0604020202020204" pitchFamily="34" charset="0"/>
              </a:rPr>
              <a:t>dieW,dieL</a:t>
            </a:r>
            <a:r>
              <a:rPr lang="en-US" sz="1200" b="1" dirty="0">
                <a:latin typeface="Arial" panose="020B0604020202020204" pitchFamily="34" charset="0"/>
                <a:cs typeface="Arial" panose="020B0604020202020204" pitchFamily="34" charset="0"/>
              </a:rPr>
              <a:t>),layer=</a:t>
            </a:r>
            <a:r>
              <a:rPr lang="en-US" sz="1200" b="1" dirty="0" err="1">
                <a:latin typeface="Arial" panose="020B0604020202020204" pitchFamily="34" charset="0"/>
                <a:cs typeface="Arial" panose="020B0604020202020204" pitchFamily="34" charset="0"/>
              </a:rPr>
              <a:t>layer_box</a:t>
            </a:r>
            <a:r>
              <a:rPr lang="en-US" sz="1200" b="1" dirty="0">
                <a:latin typeface="Arial" panose="020B0604020202020204" pitchFamily="34" charset="0"/>
                <a:cs typeface="Arial" panose="020B0604020202020204" pitchFamily="34" charset="0"/>
              </a:rPr>
              <a:t>))</a:t>
            </a:r>
          </a:p>
          <a:p>
            <a:pPr algn="just"/>
            <a:r>
              <a:rPr lang="en-US" sz="1200" b="1" dirty="0" err="1">
                <a:latin typeface="Arial" panose="020B0604020202020204" pitchFamily="34" charset="0"/>
                <a:cs typeface="Arial" panose="020B0604020202020204" pitchFamily="34" charset="0"/>
              </a:rPr>
              <a:t>ibox</a:t>
            </a:r>
            <a:r>
              <a:rPr lang="en-US" sz="1200" b="1" dirty="0">
                <a:latin typeface="Arial" panose="020B0604020202020204" pitchFamily="34" charset="0"/>
                <a:cs typeface="Arial" panose="020B0604020202020204" pitchFamily="34" charset="0"/>
              </a:rPr>
              <a:t> = </a:t>
            </a:r>
            <a:r>
              <a:rPr lang="en-US" sz="1200" b="1" dirty="0" err="1">
                <a:latin typeface="Arial" panose="020B0604020202020204" pitchFamily="34" charset="0"/>
                <a:cs typeface="Arial" panose="020B0604020202020204" pitchFamily="34" charset="0"/>
              </a:rPr>
              <a:t>box.add_ref</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gf.components.rectangle</a:t>
            </a:r>
            <a:r>
              <a:rPr lang="en-US" sz="1200" b="1" dirty="0">
                <a:latin typeface="Arial" panose="020B0604020202020204" pitchFamily="34" charset="0"/>
                <a:cs typeface="Arial" panose="020B0604020202020204" pitchFamily="34" charset="0"/>
              </a:rPr>
              <a:t>(size=(</a:t>
            </a:r>
            <a:r>
              <a:rPr lang="en-US" sz="1200" b="1" dirty="0" err="1">
                <a:latin typeface="Arial" panose="020B0604020202020204" pitchFamily="34" charset="0"/>
                <a:cs typeface="Arial" panose="020B0604020202020204" pitchFamily="34" charset="0"/>
              </a:rPr>
              <a:t>dieW</a:t>
            </a:r>
            <a:r>
              <a:rPr lang="en-US" sz="1200" b="1" dirty="0">
                <a:latin typeface="Arial" panose="020B0604020202020204" pitchFamily="34" charset="0"/>
                <a:cs typeface="Arial" panose="020B0604020202020204" pitchFamily="34" charset="0"/>
              </a:rPr>
              <a:t>-border*2,dieL-border*2),layer=</a:t>
            </a:r>
            <a:r>
              <a:rPr lang="en-US" sz="1200" b="1" dirty="0" err="1">
                <a:latin typeface="Arial" panose="020B0604020202020204" pitchFamily="34" charset="0"/>
                <a:cs typeface="Arial" panose="020B0604020202020204" pitchFamily="34" charset="0"/>
              </a:rPr>
              <a:t>layer_box</a:t>
            </a:r>
            <a:r>
              <a:rPr lang="en-US" sz="1200" b="1" dirty="0">
                <a:latin typeface="Arial" panose="020B0604020202020204" pitchFamily="34" charset="0"/>
                <a:cs typeface="Arial" panose="020B0604020202020204" pitchFamily="34" charset="0"/>
              </a:rPr>
              <a:t>)).</a:t>
            </a:r>
            <a:r>
              <a:rPr lang="en-US" sz="1200" b="1" dirty="0" err="1">
                <a:latin typeface="Arial" panose="020B0604020202020204" pitchFamily="34" charset="0"/>
                <a:cs typeface="Arial" panose="020B0604020202020204" pitchFamily="34" charset="0"/>
              </a:rPr>
              <a:t>dmovex</a:t>
            </a:r>
            <a:r>
              <a:rPr lang="en-US" sz="1200" b="1" dirty="0">
                <a:latin typeface="Arial" panose="020B0604020202020204" pitchFamily="34" charset="0"/>
                <a:cs typeface="Arial" panose="020B0604020202020204" pitchFamily="34" charset="0"/>
              </a:rPr>
              <a:t>(border).</a:t>
            </a:r>
            <a:r>
              <a:rPr lang="en-US" sz="1200" b="1" dirty="0" err="1">
                <a:latin typeface="Arial" panose="020B0604020202020204" pitchFamily="34" charset="0"/>
                <a:cs typeface="Arial" panose="020B0604020202020204" pitchFamily="34" charset="0"/>
              </a:rPr>
              <a:t>dmovey</a:t>
            </a:r>
            <a:r>
              <a:rPr lang="en-US" sz="1200" b="1" dirty="0">
                <a:latin typeface="Arial" panose="020B0604020202020204" pitchFamily="34" charset="0"/>
                <a:cs typeface="Arial" panose="020B0604020202020204" pitchFamily="34" charset="0"/>
              </a:rPr>
              <a:t>(border)</a:t>
            </a:r>
          </a:p>
          <a:p>
            <a:pPr algn="just"/>
            <a:r>
              <a:rPr lang="en-US" sz="1200" b="1" dirty="0">
                <a:latin typeface="Arial" panose="020B0604020202020204" pitchFamily="34" charset="0"/>
                <a:cs typeface="Arial" panose="020B0604020202020204" pitchFamily="34" charset="0"/>
              </a:rPr>
              <a:t>box = </a:t>
            </a:r>
            <a:r>
              <a:rPr lang="en-US" sz="1200" b="1" dirty="0" err="1">
                <a:latin typeface="Arial" panose="020B0604020202020204" pitchFamily="34" charset="0"/>
                <a:cs typeface="Arial" panose="020B0604020202020204" pitchFamily="34" charset="0"/>
              </a:rPr>
              <a:t>gf.boolean</a:t>
            </a:r>
            <a:r>
              <a:rPr lang="en-US" sz="1200" b="1" dirty="0">
                <a:latin typeface="Arial" panose="020B0604020202020204" pitchFamily="34" charset="0"/>
                <a:cs typeface="Arial" panose="020B0604020202020204" pitchFamily="34" charset="0"/>
              </a:rPr>
              <a:t>(A=</a:t>
            </a:r>
            <a:r>
              <a:rPr lang="en-US" sz="1200" b="1" dirty="0" err="1">
                <a:latin typeface="Arial" panose="020B0604020202020204" pitchFamily="34" charset="0"/>
                <a:cs typeface="Arial" panose="020B0604020202020204" pitchFamily="34" charset="0"/>
              </a:rPr>
              <a:t>obox</a:t>
            </a:r>
            <a:r>
              <a:rPr lang="en-US" sz="1200" b="1" dirty="0">
                <a:latin typeface="Arial" panose="020B0604020202020204" pitchFamily="34" charset="0"/>
                <a:cs typeface="Arial" panose="020B0604020202020204" pitchFamily="34" charset="0"/>
              </a:rPr>
              <a:t>, B=</a:t>
            </a:r>
            <a:r>
              <a:rPr lang="en-US" sz="1200" b="1" dirty="0" err="1">
                <a:latin typeface="Arial" panose="020B0604020202020204" pitchFamily="34" charset="0"/>
                <a:cs typeface="Arial" panose="020B0604020202020204" pitchFamily="34" charset="0"/>
              </a:rPr>
              <a:t>ibox</a:t>
            </a:r>
            <a:r>
              <a:rPr lang="en-US" sz="1200" b="1" dirty="0">
                <a:latin typeface="Arial" panose="020B0604020202020204" pitchFamily="34" charset="0"/>
                <a:cs typeface="Arial" panose="020B0604020202020204" pitchFamily="34" charset="0"/>
              </a:rPr>
              <a:t>, operation="A-B", layer="FLOORPLAN")</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 Adding ports to a component </a:t>
            </a:r>
          </a:p>
          <a:p>
            <a:pPr algn="just"/>
            <a:r>
              <a:rPr lang="en-US" sz="1200" b="1" dirty="0" err="1">
                <a:latin typeface="Arial" panose="020B0604020202020204" pitchFamily="34" charset="0"/>
                <a:cs typeface="Arial" panose="020B0604020202020204" pitchFamily="34" charset="0"/>
              </a:rPr>
              <a:t>box.add_port</a:t>
            </a:r>
            <a:r>
              <a:rPr lang="en-US" sz="1200" b="1" dirty="0">
                <a:latin typeface="Arial" panose="020B0604020202020204" pitchFamily="34" charset="0"/>
                <a:cs typeface="Arial" panose="020B0604020202020204" pitchFamily="34" charset="0"/>
              </a:rPr>
              <a:t>(name="</a:t>
            </a:r>
            <a:r>
              <a:rPr lang="en-US" sz="1200" b="1" dirty="0" err="1">
                <a:latin typeface="Arial" panose="020B0604020202020204" pitchFamily="34" charset="0"/>
                <a:cs typeface="Arial" panose="020B0604020202020204" pitchFamily="34" charset="0"/>
              </a:rPr>
              <a:t>block@org</a:t>
            </a:r>
            <a:r>
              <a:rPr lang="en-US" sz="1200" b="1" dirty="0">
                <a:latin typeface="Arial" panose="020B0604020202020204" pitchFamily="34" charset="0"/>
                <a:cs typeface="Arial" panose="020B0604020202020204" pitchFamily="34" charset="0"/>
              </a:rPr>
              <a:t>", center=[</a:t>
            </a:r>
            <a:r>
              <a:rPr lang="en-US" sz="1200" b="1" dirty="0" err="1">
                <a:latin typeface="Arial" panose="020B0604020202020204" pitchFamily="34" charset="0"/>
                <a:cs typeface="Arial" panose="020B0604020202020204" pitchFamily="34" charset="0"/>
              </a:rPr>
              <a:t>border,border</a:t>
            </a:r>
            <a:r>
              <a:rPr lang="en-US" sz="1200" b="1" dirty="0">
                <a:latin typeface="Arial" panose="020B0604020202020204" pitchFamily="34" charset="0"/>
                <a:cs typeface="Arial" panose="020B0604020202020204" pitchFamily="34" charset="0"/>
              </a:rPr>
              <a:t>], width=1, orientation=0, layer=</a:t>
            </a:r>
            <a:r>
              <a:rPr lang="en-US" sz="1200" b="1" dirty="0" err="1">
                <a:latin typeface="Arial" panose="020B0604020202020204" pitchFamily="34" charset="0"/>
                <a:cs typeface="Arial" panose="020B0604020202020204" pitchFamily="34" charset="0"/>
              </a:rPr>
              <a:t>layer_box</a:t>
            </a:r>
            <a:r>
              <a:rPr lang="en-US" sz="1200" b="1" dirty="0">
                <a:latin typeface="Arial" panose="020B0604020202020204" pitchFamily="34" charset="0"/>
                <a:cs typeface="Arial" panose="020B0604020202020204" pitchFamily="34" charset="0"/>
              </a:rPr>
              <a:t>)</a:t>
            </a:r>
          </a:p>
          <a:p>
            <a:pPr algn="just"/>
            <a:endParaRPr lang="en-US" sz="1200" b="1" dirty="0">
              <a:latin typeface="Arial" panose="020B0604020202020204" pitchFamily="34" charset="0"/>
              <a:cs typeface="Arial" panose="020B0604020202020204" pitchFamily="34" charset="0"/>
            </a:endParaRPr>
          </a:p>
          <a:p>
            <a:pPr algn="just"/>
            <a:r>
              <a:rPr lang="en-US" sz="1200" b="1" dirty="0" err="1">
                <a:latin typeface="Arial" panose="020B0604020202020204" pitchFamily="34" charset="0"/>
                <a:cs typeface="Arial" panose="020B0604020202020204" pitchFamily="34" charset="0"/>
              </a:rPr>
              <a:t>box.draw_ports</a:t>
            </a:r>
            <a:r>
              <a:rPr lang="en-US" sz="1200" b="1" dirty="0">
                <a:latin typeface="Arial" panose="020B0604020202020204" pitchFamily="34" charset="0"/>
                <a:cs typeface="Arial" panose="020B0604020202020204" pitchFamily="34" charset="0"/>
              </a:rPr>
              <a:t>()</a:t>
            </a:r>
          </a:p>
          <a:p>
            <a:pPr algn="just"/>
            <a:r>
              <a:rPr lang="en-US" sz="1200" b="1" dirty="0" err="1">
                <a:latin typeface="Arial" panose="020B0604020202020204" pitchFamily="34" charset="0"/>
                <a:cs typeface="Arial" panose="020B0604020202020204" pitchFamily="34" charset="0"/>
              </a:rPr>
              <a:t>box.show</a:t>
            </a:r>
            <a:r>
              <a:rPr lang="en-US" sz="1200" b="1" dirty="0">
                <a:latin typeface="Arial" panose="020B0604020202020204" pitchFamily="34" charset="0"/>
                <a:cs typeface="Arial" panose="020B0604020202020204" pitchFamily="34" charset="0"/>
              </a:rPr>
              <a:t>()</a:t>
            </a:r>
          </a:p>
          <a:p>
            <a:pPr algn="just"/>
            <a:r>
              <a:rPr lang="en-US" sz="1200" b="1" dirty="0" err="1">
                <a:latin typeface="Arial" panose="020B0604020202020204" pitchFamily="34" charset="0"/>
                <a:cs typeface="Arial" panose="020B0604020202020204" pitchFamily="34" charset="0"/>
              </a:rPr>
              <a:t>box.plot</a:t>
            </a:r>
            <a:r>
              <a:rPr lang="en-US" sz="1200" b="1"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D401E26E-E223-920F-8985-50C6FBCFBFBA}"/>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D067726-7068-0181-A311-DB7D8347C2E4}"/>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242E1ADF-52BC-7452-6251-2CB223017AA8}"/>
              </a:ext>
            </a:extLst>
          </p:cNvPr>
          <p:cNvPicPr>
            <a:picLocks noChangeAspect="1"/>
          </p:cNvPicPr>
          <p:nvPr/>
        </p:nvPicPr>
        <p:blipFill>
          <a:blip r:embed="rId4"/>
          <a:stretch>
            <a:fillRect/>
          </a:stretch>
        </p:blipFill>
        <p:spPr>
          <a:xfrm>
            <a:off x="6183005" y="1142631"/>
            <a:ext cx="6477561" cy="4877223"/>
          </a:xfrm>
          <a:prstGeom prst="rect">
            <a:avLst/>
          </a:prstGeom>
        </p:spPr>
      </p:pic>
    </p:spTree>
    <p:extLst>
      <p:ext uri="{BB962C8B-B14F-4D97-AF65-F5344CB8AC3E}">
        <p14:creationId xmlns:p14="http://schemas.microsoft.com/office/powerpoint/2010/main" val="1836922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D64DB-E97A-E82D-714B-15580E4AB9A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6D8E471-EAD5-E6D5-0E75-8743B16C5365}"/>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4BA070FD-62A6-72DA-E228-722D6082B7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2987462-AA85-5125-3BC8-081CA27396E1}"/>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6E7789AF-8D28-12EC-010E-7A2B478CF05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0869726-EA76-6140-C404-A6E4F21188F9}"/>
              </a:ext>
            </a:extLst>
          </p:cNvPr>
          <p:cNvSpPr txBox="1"/>
          <p:nvPr/>
        </p:nvSpPr>
        <p:spPr>
          <a:xfrm>
            <a:off x="581608" y="1000413"/>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000" dirty="0">
                <a:latin typeface="Arial" panose="020B0604020202020204" pitchFamily="34" charset="0"/>
                <a:cs typeface="Arial" panose="020B0604020202020204" pitchFamily="34" charset="0"/>
              </a:rPr>
              <a:t>#Part b) Creating die</a:t>
            </a:r>
          </a:p>
          <a:p>
            <a:pPr algn="just"/>
            <a:r>
              <a:rPr lang="en-US" sz="1000" dirty="0">
                <a:latin typeface="Arial" panose="020B0604020202020204" pitchFamily="34" charset="0"/>
                <a:cs typeface="Arial" panose="020B0604020202020204" pitchFamily="34" charset="0"/>
              </a:rPr>
              <a:t># Create a die  W = 5 mm x L = 10 mm </a:t>
            </a:r>
          </a:p>
          <a:p>
            <a:pPr algn="just"/>
            <a:r>
              <a:rPr lang="en-US" sz="1000" dirty="0">
                <a:latin typeface="Arial" panose="020B0604020202020204" pitchFamily="34" charset="0"/>
                <a:cs typeface="Arial" panose="020B0604020202020204" pitchFamily="34" charset="0"/>
              </a:rPr>
              <a:t># Create an array of I/</a:t>
            </a:r>
            <a:r>
              <a:rPr lang="en-US" sz="1000" dirty="0" err="1">
                <a:latin typeface="Arial" panose="020B0604020202020204" pitchFamily="34" charset="0"/>
                <a:cs typeface="Arial" panose="020B0604020202020204" pitchFamily="34" charset="0"/>
              </a:rPr>
              <a:t>Os</a:t>
            </a:r>
            <a:r>
              <a:rPr lang="en-US" sz="1000" dirty="0">
                <a:latin typeface="Arial" panose="020B0604020202020204" pitchFamily="34" charset="0"/>
                <a:cs typeface="Arial" panose="020B0604020202020204" pitchFamily="34" charset="0"/>
              </a:rPr>
              <a:t> spaced at 250 µm (as much I/</a:t>
            </a:r>
            <a:r>
              <a:rPr lang="en-US" sz="1000" dirty="0" err="1">
                <a:latin typeface="Arial" panose="020B0604020202020204" pitchFamily="34" charset="0"/>
                <a:cs typeface="Arial" panose="020B0604020202020204" pitchFamily="34" charset="0"/>
              </a:rPr>
              <a:t>Os</a:t>
            </a:r>
            <a:r>
              <a:rPr lang="en-US" sz="1000" dirty="0">
                <a:latin typeface="Arial" panose="020B0604020202020204" pitchFamily="34" charset="0"/>
                <a:cs typeface="Arial" panose="020B0604020202020204" pitchFamily="34" charset="0"/>
              </a:rPr>
              <a:t> as the width allows)</a:t>
            </a:r>
          </a:p>
          <a:p>
            <a:pPr algn="just"/>
            <a:r>
              <a:rPr lang="en-US" sz="1000" dirty="0">
                <a:latin typeface="Arial" panose="020B0604020202020204" pitchFamily="34" charset="0"/>
                <a:cs typeface="Arial" panose="020B0604020202020204" pitchFamily="34" charset="0"/>
              </a:rPr>
              <a:t># Create a cell component of this die, with I/</a:t>
            </a:r>
            <a:r>
              <a:rPr lang="en-US" sz="1000" dirty="0" err="1">
                <a:latin typeface="Arial" panose="020B0604020202020204" pitchFamily="34" charset="0"/>
                <a:cs typeface="Arial" panose="020B0604020202020204" pitchFamily="34" charset="0"/>
              </a:rPr>
              <a:t>Os</a:t>
            </a:r>
            <a:r>
              <a:rPr lang="en-US" sz="1000" dirty="0">
                <a:latin typeface="Arial" panose="020B0604020202020204" pitchFamily="34" charset="0"/>
                <a:cs typeface="Arial" panose="020B0604020202020204" pitchFamily="34" charset="0"/>
              </a:rPr>
              <a:t> accessible to connect</a:t>
            </a: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gf.clear_cache</a:t>
            </a:r>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w_wg</a:t>
            </a:r>
            <a:r>
              <a:rPr lang="en-US" sz="1000" dirty="0">
                <a:latin typeface="Arial" panose="020B0604020202020204" pitchFamily="34" charset="0"/>
                <a:cs typeface="Arial" panose="020B0604020202020204" pitchFamily="34" charset="0"/>
              </a:rPr>
              <a:t> = 1.2</a:t>
            </a:r>
          </a:p>
          <a:p>
            <a:pPr algn="just"/>
            <a:r>
              <a:rPr lang="en-US" sz="1000" dirty="0" err="1">
                <a:latin typeface="Arial" panose="020B0604020202020204" pitchFamily="34" charset="0"/>
                <a:cs typeface="Arial" panose="020B0604020202020204" pitchFamily="34" charset="0"/>
              </a:rPr>
              <a:t>xs_io</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gf.cross_section.strip</a:t>
            </a:r>
            <a:r>
              <a:rPr lang="en-US" sz="1000" dirty="0">
                <a:latin typeface="Arial" panose="020B0604020202020204" pitchFamily="34" charset="0"/>
                <a:cs typeface="Arial" panose="020B0604020202020204" pitchFamily="34" charset="0"/>
              </a:rPr>
              <a:t>(width=1.2, layer="WG")</a:t>
            </a:r>
          </a:p>
          <a:p>
            <a:pPr algn="just"/>
            <a:r>
              <a:rPr lang="en-US" sz="1000" dirty="0">
                <a:latin typeface="Arial" panose="020B0604020202020204" pitchFamily="34" charset="0"/>
                <a:cs typeface="Arial" panose="020B0604020202020204" pitchFamily="34" charset="0"/>
              </a:rPr>
              <a:t>@gf.cell</a:t>
            </a:r>
          </a:p>
          <a:p>
            <a:pPr algn="just"/>
            <a:r>
              <a:rPr lang="en-US" sz="1000" dirty="0">
                <a:latin typeface="Arial" panose="020B0604020202020204" pitchFamily="34" charset="0"/>
                <a:cs typeface="Arial" panose="020B0604020202020204" pitchFamily="34" charset="0"/>
              </a:rPr>
              <a:t>def die_4b(</a:t>
            </a:r>
            <a:r>
              <a:rPr lang="en-US" sz="1000" dirty="0" err="1">
                <a:latin typeface="Arial" panose="020B0604020202020204" pitchFamily="34" charset="0"/>
                <a:cs typeface="Arial" panose="020B0604020202020204" pitchFamily="34" charset="0"/>
              </a:rPr>
              <a:t>die_L</a:t>
            </a:r>
            <a:r>
              <a:rPr lang="en-US" sz="1000" dirty="0">
                <a:latin typeface="Arial" panose="020B0604020202020204" pitchFamily="34" charset="0"/>
                <a:cs typeface="Arial" panose="020B0604020202020204" pitchFamily="34" charset="0"/>
              </a:rPr>
              <a:t> = 10000, </a:t>
            </a:r>
            <a:r>
              <a:rPr lang="en-US" sz="1000" dirty="0" err="1">
                <a:latin typeface="Arial" panose="020B0604020202020204" pitchFamily="34" charset="0"/>
                <a:cs typeface="Arial" panose="020B0604020202020204" pitchFamily="34" charset="0"/>
              </a:rPr>
              <a:t>die_W</a:t>
            </a:r>
            <a:r>
              <a:rPr lang="en-US" sz="1000" dirty="0">
                <a:latin typeface="Arial" panose="020B0604020202020204" pitchFamily="34" charset="0"/>
                <a:cs typeface="Arial" panose="020B0604020202020204" pitchFamily="34" charset="0"/>
              </a:rPr>
              <a:t> = 5000, border = 125,io_pitch = 250):</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layer_box</a:t>
            </a:r>
            <a:r>
              <a:rPr lang="en-US" sz="1000" dirty="0">
                <a:latin typeface="Arial" panose="020B0604020202020204" pitchFamily="34" charset="0"/>
                <a:cs typeface="Arial" panose="020B0604020202020204" pitchFamily="34" charset="0"/>
              </a:rPr>
              <a:t>: str = "FLOORPLAN"</a:t>
            </a:r>
          </a:p>
          <a:p>
            <a:pPr algn="just"/>
            <a:r>
              <a:rPr lang="en-US" sz="1000" dirty="0">
                <a:latin typeface="Arial" panose="020B0604020202020204" pitchFamily="34" charset="0"/>
                <a:cs typeface="Arial" panose="020B0604020202020204" pitchFamily="34" charset="0"/>
              </a:rPr>
              <a:t>    c=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obox</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gf.components.rectangle</a:t>
            </a:r>
            <a:r>
              <a:rPr lang="en-US" sz="1000" dirty="0">
                <a:latin typeface="Arial" panose="020B0604020202020204" pitchFamily="34" charset="0"/>
                <a:cs typeface="Arial" panose="020B0604020202020204" pitchFamily="34" charset="0"/>
              </a:rPr>
              <a:t>(size=(</a:t>
            </a:r>
            <a:r>
              <a:rPr lang="en-US" sz="1000" dirty="0" err="1">
                <a:latin typeface="Arial" panose="020B0604020202020204" pitchFamily="34" charset="0"/>
                <a:cs typeface="Arial" panose="020B0604020202020204" pitchFamily="34" charset="0"/>
              </a:rPr>
              <a:t>die_W</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die_L</a:t>
            </a:r>
            <a:r>
              <a:rPr lang="en-US" sz="1000" dirty="0">
                <a:latin typeface="Arial" panose="020B0604020202020204" pitchFamily="34" charset="0"/>
                <a:cs typeface="Arial" panose="020B0604020202020204" pitchFamily="34" charset="0"/>
              </a:rPr>
              <a:t>), layer=</a:t>
            </a:r>
            <a:r>
              <a:rPr lang="en-US" sz="1000" dirty="0" err="1">
                <a:latin typeface="Arial" panose="020B0604020202020204" pitchFamily="34" charset="0"/>
                <a:cs typeface="Arial" panose="020B0604020202020204" pitchFamily="34" charset="0"/>
              </a:rPr>
              <a:t>layer_box</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ibox</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gf.components.rectangle</a:t>
            </a:r>
            <a:r>
              <a:rPr lang="en-US" sz="1000" dirty="0">
                <a:latin typeface="Arial" panose="020B0604020202020204" pitchFamily="34" charset="0"/>
                <a:cs typeface="Arial" panose="020B0604020202020204" pitchFamily="34" charset="0"/>
              </a:rPr>
              <a:t>(size=(</a:t>
            </a:r>
            <a:r>
              <a:rPr lang="en-US" sz="1000" dirty="0" err="1">
                <a:latin typeface="Arial" panose="020B0604020202020204" pitchFamily="34" charset="0"/>
                <a:cs typeface="Arial" panose="020B0604020202020204" pitchFamily="34" charset="0"/>
              </a:rPr>
              <a:t>die_W</a:t>
            </a:r>
            <a:r>
              <a:rPr lang="en-US" sz="1000" dirty="0">
                <a:latin typeface="Arial" panose="020B0604020202020204" pitchFamily="34" charset="0"/>
                <a:cs typeface="Arial" panose="020B0604020202020204" pitchFamily="34" charset="0"/>
              </a:rPr>
              <a:t> - 2*border, </a:t>
            </a:r>
            <a:r>
              <a:rPr lang="en-US" sz="1000" dirty="0" err="1">
                <a:latin typeface="Arial" panose="020B0604020202020204" pitchFamily="34" charset="0"/>
                <a:cs typeface="Arial" panose="020B0604020202020204" pitchFamily="34" charset="0"/>
              </a:rPr>
              <a:t>die_L</a:t>
            </a:r>
            <a:r>
              <a:rPr lang="en-US" sz="1000" dirty="0">
                <a:latin typeface="Arial" panose="020B0604020202020204" pitchFamily="34" charset="0"/>
                <a:cs typeface="Arial" panose="020B0604020202020204" pitchFamily="34" charset="0"/>
              </a:rPr>
              <a:t> - 2*border), layer=</a:t>
            </a:r>
            <a:r>
              <a:rPr lang="en-US" sz="1000" dirty="0" err="1">
                <a:latin typeface="Arial" panose="020B0604020202020204" pitchFamily="34" charset="0"/>
                <a:cs typeface="Arial" panose="020B0604020202020204" pitchFamily="34" charset="0"/>
              </a:rPr>
              <a:t>layer_box</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dmovex</a:t>
            </a:r>
            <a:r>
              <a:rPr lang="en-US" sz="1000" dirty="0">
                <a:latin typeface="Arial" panose="020B0604020202020204" pitchFamily="34" charset="0"/>
                <a:cs typeface="Arial" panose="020B0604020202020204" pitchFamily="34" charset="0"/>
              </a:rPr>
              <a:t>(border).</a:t>
            </a:r>
            <a:r>
              <a:rPr lang="en-US" sz="1000" dirty="0" err="1">
                <a:latin typeface="Arial" panose="020B0604020202020204" pitchFamily="34" charset="0"/>
                <a:cs typeface="Arial" panose="020B0604020202020204" pitchFamily="34" charset="0"/>
              </a:rPr>
              <a:t>dmovey</a:t>
            </a:r>
            <a:r>
              <a:rPr lang="en-US" sz="1000" dirty="0">
                <a:latin typeface="Arial" panose="020B0604020202020204" pitchFamily="34" charset="0"/>
                <a:cs typeface="Arial" panose="020B0604020202020204" pitchFamily="34" charset="0"/>
              </a:rPr>
              <a:t>(border)</a:t>
            </a:r>
          </a:p>
          <a:p>
            <a:pPr algn="just"/>
            <a:r>
              <a:rPr lang="en-US" sz="1000" dirty="0">
                <a:latin typeface="Arial" panose="020B0604020202020204" pitchFamily="34" charset="0"/>
                <a:cs typeface="Arial" panose="020B0604020202020204" pitchFamily="34" charset="0"/>
              </a:rPr>
              <a:t>    frame = </a:t>
            </a:r>
            <a:r>
              <a:rPr lang="en-US" sz="1000" dirty="0" err="1">
                <a:latin typeface="Arial" panose="020B0604020202020204" pitchFamily="34" charset="0"/>
                <a:cs typeface="Arial" panose="020B0604020202020204" pitchFamily="34" charset="0"/>
              </a:rPr>
              <a:t>gf.boolean</a:t>
            </a:r>
            <a:r>
              <a:rPr lang="en-US" sz="1000" dirty="0">
                <a:latin typeface="Arial" panose="020B0604020202020204" pitchFamily="34" charset="0"/>
                <a:cs typeface="Arial" panose="020B0604020202020204" pitchFamily="34" charset="0"/>
              </a:rPr>
              <a:t>(A=</a:t>
            </a:r>
            <a:r>
              <a:rPr lang="en-US" sz="1000" dirty="0" err="1">
                <a:latin typeface="Arial" panose="020B0604020202020204" pitchFamily="34" charset="0"/>
                <a:cs typeface="Arial" panose="020B0604020202020204" pitchFamily="34" charset="0"/>
              </a:rPr>
              <a:t>obox</a:t>
            </a:r>
            <a:r>
              <a:rPr lang="en-US" sz="1000" dirty="0">
                <a:latin typeface="Arial" panose="020B0604020202020204" pitchFamily="34" charset="0"/>
                <a:cs typeface="Arial" panose="020B0604020202020204" pitchFamily="34" charset="0"/>
              </a:rPr>
              <a:t>, B=</a:t>
            </a:r>
            <a:r>
              <a:rPr lang="en-US" sz="1000" dirty="0" err="1">
                <a:latin typeface="Arial" panose="020B0604020202020204" pitchFamily="34" charset="0"/>
                <a:cs typeface="Arial" panose="020B0604020202020204" pitchFamily="34" charset="0"/>
              </a:rPr>
              <a:t>ibox</a:t>
            </a:r>
            <a:r>
              <a:rPr lang="en-US" sz="1000" dirty="0">
                <a:latin typeface="Arial" panose="020B0604020202020204" pitchFamily="34" charset="0"/>
                <a:cs typeface="Arial" panose="020B0604020202020204" pitchFamily="34" charset="0"/>
              </a:rPr>
              <a:t>, operation="A-B", layer=</a:t>
            </a:r>
            <a:r>
              <a:rPr lang="en-US" sz="1000" dirty="0" err="1">
                <a:latin typeface="Arial" panose="020B0604020202020204" pitchFamily="34" charset="0"/>
                <a:cs typeface="Arial" panose="020B0604020202020204" pitchFamily="34" charset="0"/>
              </a:rPr>
              <a:t>layer_box</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(frame)</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n_io</a:t>
            </a:r>
            <a:r>
              <a:rPr lang="en-US" sz="1000" dirty="0">
                <a:latin typeface="Arial" panose="020B0604020202020204" pitchFamily="34" charset="0"/>
                <a:cs typeface="Arial" panose="020B0604020202020204" pitchFamily="34" charset="0"/>
              </a:rPr>
              <a:t> = int((</a:t>
            </a:r>
            <a:r>
              <a:rPr lang="en-US" sz="1000" dirty="0" err="1">
                <a:latin typeface="Arial" panose="020B0604020202020204" pitchFamily="34" charset="0"/>
                <a:cs typeface="Arial" panose="020B0604020202020204" pitchFamily="34" charset="0"/>
              </a:rPr>
              <a:t>die_L</a:t>
            </a:r>
            <a:r>
              <a:rPr lang="en-US" sz="1000" dirty="0">
                <a:latin typeface="Arial" panose="020B0604020202020204" pitchFamily="34" charset="0"/>
                <a:cs typeface="Arial" panose="020B0604020202020204" pitchFamily="34" charset="0"/>
              </a:rPr>
              <a:t> - 2*border) // </a:t>
            </a:r>
            <a:r>
              <a:rPr lang="en-US" sz="1000" dirty="0" err="1">
                <a:latin typeface="Arial" panose="020B0604020202020204" pitchFamily="34" charset="0"/>
                <a:cs typeface="Arial" panose="020B0604020202020204" pitchFamily="34" charset="0"/>
              </a:rPr>
              <a:t>io_pitch</a:t>
            </a:r>
            <a:r>
              <a:rPr lang="en-US" sz="1000" dirty="0">
                <a:latin typeface="Arial" panose="020B0604020202020204" pitchFamily="34" charset="0"/>
                <a:cs typeface="Arial" panose="020B0604020202020204" pitchFamily="34" charset="0"/>
              </a:rPr>
              <a:t>) + 1  </a:t>
            </a:r>
          </a:p>
          <a:p>
            <a:pPr algn="just"/>
            <a:r>
              <a:rPr lang="en-US" sz="1000" dirty="0">
                <a:latin typeface="Arial" panose="020B0604020202020204" pitchFamily="34" charset="0"/>
                <a:cs typeface="Arial" panose="020B0604020202020204" pitchFamily="34" charset="0"/>
              </a:rPr>
              <a:t>    io = </a:t>
            </a:r>
            <a:r>
              <a:rPr lang="en-US" sz="1000" dirty="0" err="1">
                <a:latin typeface="Arial" panose="020B0604020202020204" pitchFamily="34" charset="0"/>
                <a:cs typeface="Arial" panose="020B0604020202020204" pitchFamily="34" charset="0"/>
              </a:rPr>
              <a:t>gf.components.straight_array</a:t>
            </a:r>
            <a:r>
              <a:rPr lang="en-US" sz="1000" dirty="0">
                <a:latin typeface="Arial" panose="020B0604020202020204" pitchFamily="34" charset="0"/>
                <a:cs typeface="Arial" panose="020B0604020202020204" pitchFamily="34" charset="0"/>
              </a:rPr>
              <a:t>( n=</a:t>
            </a:r>
            <a:r>
              <a:rPr lang="en-US" sz="1000" dirty="0" err="1">
                <a:latin typeface="Arial" panose="020B0604020202020204" pitchFamily="34" charset="0"/>
                <a:cs typeface="Arial" panose="020B0604020202020204" pitchFamily="34" charset="0"/>
              </a:rPr>
              <a:t>n_io</a:t>
            </a:r>
            <a:r>
              <a:rPr lang="en-US" sz="1000" dirty="0">
                <a:latin typeface="Arial" panose="020B0604020202020204" pitchFamily="34" charset="0"/>
                <a:cs typeface="Arial" panose="020B0604020202020204" pitchFamily="34" charset="0"/>
              </a:rPr>
              <a:t>, spacing=</a:t>
            </a:r>
            <a:r>
              <a:rPr lang="en-US" sz="1000" dirty="0" err="1">
                <a:latin typeface="Arial" panose="020B0604020202020204" pitchFamily="34" charset="0"/>
                <a:cs typeface="Arial" panose="020B0604020202020204" pitchFamily="34" charset="0"/>
              </a:rPr>
              <a:t>io_pitch</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w_wg</a:t>
            </a:r>
            <a:r>
              <a:rPr lang="en-US" sz="1000" dirty="0">
                <a:latin typeface="Arial" panose="020B0604020202020204" pitchFamily="34" charset="0"/>
                <a:cs typeface="Arial" panose="020B0604020202020204" pitchFamily="34" charset="0"/>
              </a:rPr>
              <a:t>, length=border, </a:t>
            </a:r>
            <a:r>
              <a:rPr lang="en-US" sz="1000" dirty="0" err="1">
                <a:latin typeface="Arial" panose="020B0604020202020204" pitchFamily="34" charset="0"/>
                <a:cs typeface="Arial" panose="020B0604020202020204" pitchFamily="34" charset="0"/>
              </a:rPr>
              <a:t>cross_section</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xs_io</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in_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(io).</a:t>
            </a:r>
            <a:r>
              <a:rPr lang="en-US" sz="1000" dirty="0" err="1">
                <a:latin typeface="Arial" panose="020B0604020202020204" pitchFamily="34" charset="0"/>
                <a:cs typeface="Arial" panose="020B0604020202020204" pitchFamily="34" charset="0"/>
              </a:rPr>
              <a:t>dmovey</a:t>
            </a:r>
            <a:r>
              <a:rPr lang="en-US" sz="1000" dirty="0">
                <a:latin typeface="Arial" panose="020B0604020202020204" pitchFamily="34" charset="0"/>
                <a:cs typeface="Arial" panose="020B0604020202020204" pitchFamily="34" charset="0"/>
              </a:rPr>
              <a:t>(border)                            </a:t>
            </a:r>
          </a:p>
          <a:p>
            <a:pPr algn="just"/>
            <a:r>
              <a:rPr lang="en-US" sz="1000" dirty="0">
                <a:latin typeface="Arial" panose="020B0604020202020204" pitchFamily="34" charset="0"/>
                <a:cs typeface="Arial" panose="020B0604020202020204" pitchFamily="34" charset="0"/>
              </a:rPr>
              <a:t>    out_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(io).</a:t>
            </a:r>
            <a:r>
              <a:rPr lang="en-US" sz="1000" dirty="0" err="1">
                <a:latin typeface="Arial" panose="020B0604020202020204" pitchFamily="34" charset="0"/>
                <a:cs typeface="Arial" panose="020B0604020202020204" pitchFamily="34" charset="0"/>
              </a:rPr>
              <a:t>dmovex</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die_W</a:t>
            </a:r>
            <a:r>
              <a:rPr lang="en-US" sz="1000" dirty="0">
                <a:latin typeface="Arial" panose="020B0604020202020204" pitchFamily="34" charset="0"/>
                <a:cs typeface="Arial" panose="020B0604020202020204" pitchFamily="34" charset="0"/>
              </a:rPr>
              <a:t> - border).</a:t>
            </a:r>
            <a:r>
              <a:rPr lang="en-US" sz="1000" dirty="0" err="1">
                <a:latin typeface="Arial" panose="020B0604020202020204" pitchFamily="34" charset="0"/>
                <a:cs typeface="Arial" panose="020B0604020202020204" pitchFamily="34" charset="0"/>
              </a:rPr>
              <a:t>dmovey</a:t>
            </a:r>
            <a:r>
              <a:rPr lang="en-US" sz="1000" dirty="0">
                <a:latin typeface="Arial" panose="020B0604020202020204" pitchFamily="34" charset="0"/>
                <a:cs typeface="Arial" panose="020B0604020202020204" pitchFamily="34" charset="0"/>
              </a:rPr>
              <a:t>(border)  </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portsA</a:t>
            </a:r>
            <a:r>
              <a:rPr lang="en-US" sz="1000" dirty="0">
                <a:latin typeface="Arial" panose="020B0604020202020204" pitchFamily="34" charset="0"/>
                <a:cs typeface="Arial" panose="020B0604020202020204" pitchFamily="34" charset="0"/>
              </a:rPr>
              <a:t> = sorted([p for p in </a:t>
            </a:r>
            <a:r>
              <a:rPr lang="en-US" sz="1000" dirty="0" err="1">
                <a:latin typeface="Arial" panose="020B0604020202020204" pitchFamily="34" charset="0"/>
                <a:cs typeface="Arial" panose="020B0604020202020204" pitchFamily="34" charset="0"/>
              </a:rPr>
              <a:t>in_.ports</a:t>
            </a:r>
            <a:r>
              <a:rPr lang="en-US" sz="1000" dirty="0">
                <a:latin typeface="Arial" panose="020B0604020202020204" pitchFamily="34" charset="0"/>
                <a:cs typeface="Arial" panose="020B0604020202020204" pitchFamily="34" charset="0"/>
              </a:rPr>
              <a:t> if </a:t>
            </a:r>
            <a:r>
              <a:rPr lang="en-US" sz="1000" dirty="0" err="1">
                <a:latin typeface="Arial" panose="020B0604020202020204" pitchFamily="34" charset="0"/>
                <a:cs typeface="Arial" panose="020B0604020202020204" pitchFamily="34" charset="0"/>
              </a:rPr>
              <a:t>p.orientation</a:t>
            </a:r>
            <a:r>
              <a:rPr lang="en-US" sz="1000" dirty="0">
                <a:latin typeface="Arial" panose="020B0604020202020204" pitchFamily="34" charset="0"/>
                <a:cs typeface="Arial" panose="020B0604020202020204" pitchFamily="34" charset="0"/>
              </a:rPr>
              <a:t> == 0], key=lambda p: </a:t>
            </a:r>
            <a:r>
              <a:rPr lang="en-US" sz="1000" dirty="0" err="1">
                <a:latin typeface="Arial" panose="020B0604020202020204" pitchFamily="34" charset="0"/>
                <a:cs typeface="Arial" panose="020B0604020202020204" pitchFamily="34" charset="0"/>
              </a:rPr>
              <a:t>p.center</a:t>
            </a:r>
            <a:r>
              <a:rPr lang="en-US" sz="1000" dirty="0">
                <a:latin typeface="Arial" panose="020B0604020202020204" pitchFamily="34" charset="0"/>
                <a:cs typeface="Arial" panose="020B0604020202020204" pitchFamily="34" charset="0"/>
              </a:rPr>
              <a:t>[1])</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portsB</a:t>
            </a:r>
            <a:r>
              <a:rPr lang="en-US" sz="1000" dirty="0">
                <a:latin typeface="Arial" panose="020B0604020202020204" pitchFamily="34" charset="0"/>
                <a:cs typeface="Arial" panose="020B0604020202020204" pitchFamily="34" charset="0"/>
              </a:rPr>
              <a:t> = sorted([p for p in </a:t>
            </a:r>
            <a:r>
              <a:rPr lang="en-US" sz="1000" dirty="0" err="1">
                <a:latin typeface="Arial" panose="020B0604020202020204" pitchFamily="34" charset="0"/>
                <a:cs typeface="Arial" panose="020B0604020202020204" pitchFamily="34" charset="0"/>
              </a:rPr>
              <a:t>out_.ports</a:t>
            </a:r>
            <a:r>
              <a:rPr lang="en-US" sz="1000" dirty="0">
                <a:latin typeface="Arial" panose="020B0604020202020204" pitchFamily="34" charset="0"/>
                <a:cs typeface="Arial" panose="020B0604020202020204" pitchFamily="34" charset="0"/>
              </a:rPr>
              <a:t> if </a:t>
            </a:r>
            <a:r>
              <a:rPr lang="en-US" sz="1000" dirty="0" err="1">
                <a:latin typeface="Arial" panose="020B0604020202020204" pitchFamily="34" charset="0"/>
                <a:cs typeface="Arial" panose="020B0604020202020204" pitchFamily="34" charset="0"/>
              </a:rPr>
              <a:t>p.orientation</a:t>
            </a:r>
            <a:r>
              <a:rPr lang="en-US" sz="1000" dirty="0">
                <a:latin typeface="Arial" panose="020B0604020202020204" pitchFamily="34" charset="0"/>
                <a:cs typeface="Arial" panose="020B0604020202020204" pitchFamily="34" charset="0"/>
              </a:rPr>
              <a:t> == 180], key=lambda p: </a:t>
            </a:r>
            <a:r>
              <a:rPr lang="en-US" sz="1000" dirty="0" err="1">
                <a:latin typeface="Arial" panose="020B0604020202020204" pitchFamily="34" charset="0"/>
                <a:cs typeface="Arial" panose="020B0604020202020204" pitchFamily="34" charset="0"/>
              </a:rPr>
              <a:t>p.center</a:t>
            </a:r>
            <a:r>
              <a:rPr lang="en-US" sz="1000" dirty="0">
                <a:latin typeface="Arial" panose="020B0604020202020204" pitchFamily="34" charset="0"/>
                <a:cs typeface="Arial" panose="020B0604020202020204" pitchFamily="34" charset="0"/>
              </a:rPr>
              <a:t>[1])</a:t>
            </a:r>
          </a:p>
          <a:p>
            <a:pPr algn="just"/>
            <a:r>
              <a:rPr lang="en-US" sz="1000" dirty="0">
                <a:latin typeface="Arial" panose="020B0604020202020204" pitchFamily="34" charset="0"/>
                <a:cs typeface="Arial" panose="020B0604020202020204" pitchFamily="34" charset="0"/>
              </a:rPr>
              <a:t>    for </a:t>
            </a:r>
            <a:r>
              <a:rPr lang="en-US" sz="1000" dirty="0" err="1">
                <a:latin typeface="Arial" panose="020B0604020202020204" pitchFamily="34" charset="0"/>
                <a:cs typeface="Arial" panose="020B0604020202020204" pitchFamily="34" charset="0"/>
              </a:rPr>
              <a:t>i</a:t>
            </a:r>
            <a:r>
              <a:rPr lang="en-US" sz="1000" dirty="0">
                <a:latin typeface="Arial" panose="020B0604020202020204" pitchFamily="34" charset="0"/>
                <a:cs typeface="Arial" panose="020B0604020202020204" pitchFamily="34" charset="0"/>
              </a:rPr>
              <a:t>, p in enumerate(</a:t>
            </a:r>
            <a:r>
              <a:rPr lang="en-US" sz="1000" dirty="0" err="1">
                <a:latin typeface="Arial" panose="020B0604020202020204" pitchFamily="34" charset="0"/>
                <a:cs typeface="Arial" panose="020B0604020202020204" pitchFamily="34" charset="0"/>
              </a:rPr>
              <a:t>portsA</a:t>
            </a:r>
            <a:r>
              <a:rPr lang="en-US" sz="1000" dirty="0">
                <a:latin typeface="Arial" panose="020B0604020202020204" pitchFamily="34" charset="0"/>
                <a:cs typeface="Arial" panose="020B0604020202020204" pitchFamily="34" charset="0"/>
              </a:rPr>
              <a:t>, start=1):</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f"A</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i</a:t>
            </a:r>
            <a:r>
              <a:rPr lang="en-US" sz="1000" dirty="0">
                <a:latin typeface="Arial" panose="020B0604020202020204" pitchFamily="34" charset="0"/>
                <a:cs typeface="Arial" panose="020B0604020202020204" pitchFamily="34" charset="0"/>
              </a:rPr>
              <a:t>}", port=p)</a:t>
            </a:r>
          </a:p>
          <a:p>
            <a:pPr algn="just"/>
            <a:r>
              <a:rPr lang="en-US" sz="1000" dirty="0">
                <a:latin typeface="Arial" panose="020B0604020202020204" pitchFamily="34" charset="0"/>
                <a:cs typeface="Arial" panose="020B0604020202020204" pitchFamily="34" charset="0"/>
              </a:rPr>
              <a:t>    for </a:t>
            </a:r>
            <a:r>
              <a:rPr lang="en-US" sz="1000" dirty="0" err="1">
                <a:latin typeface="Arial" panose="020B0604020202020204" pitchFamily="34" charset="0"/>
                <a:cs typeface="Arial" panose="020B0604020202020204" pitchFamily="34" charset="0"/>
              </a:rPr>
              <a:t>i</a:t>
            </a:r>
            <a:r>
              <a:rPr lang="en-US" sz="1000" dirty="0">
                <a:latin typeface="Arial" panose="020B0604020202020204" pitchFamily="34" charset="0"/>
                <a:cs typeface="Arial" panose="020B0604020202020204" pitchFamily="34" charset="0"/>
              </a:rPr>
              <a:t>, p in enumerate(</a:t>
            </a:r>
            <a:r>
              <a:rPr lang="en-US" sz="1000" dirty="0" err="1">
                <a:latin typeface="Arial" panose="020B0604020202020204" pitchFamily="34" charset="0"/>
                <a:cs typeface="Arial" panose="020B0604020202020204" pitchFamily="34" charset="0"/>
              </a:rPr>
              <a:t>portsB</a:t>
            </a:r>
            <a:r>
              <a:rPr lang="en-US" sz="1000" dirty="0">
                <a:latin typeface="Arial" panose="020B0604020202020204" pitchFamily="34" charset="0"/>
                <a:cs typeface="Arial" panose="020B0604020202020204" pitchFamily="34" charset="0"/>
              </a:rPr>
              <a:t>, start=1):</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c.add_port</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f"B</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i</a:t>
            </a:r>
            <a:r>
              <a:rPr lang="en-US" sz="1000" dirty="0">
                <a:latin typeface="Arial" panose="020B0604020202020204" pitchFamily="34" charset="0"/>
                <a:cs typeface="Arial" panose="020B0604020202020204" pitchFamily="34" charset="0"/>
              </a:rPr>
              <a:t>}", port=p)</a:t>
            </a:r>
          </a:p>
          <a:p>
            <a:pPr algn="just"/>
            <a:r>
              <a:rPr lang="en-US" sz="1000" dirty="0">
                <a:latin typeface="Arial" panose="020B0604020202020204" pitchFamily="34" charset="0"/>
                <a:cs typeface="Arial" panose="020B0604020202020204" pitchFamily="34" charset="0"/>
              </a:rPr>
              <a:t>    return c</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c = die_4b(</a:t>
            </a:r>
            <a:r>
              <a:rPr lang="en-US" sz="1000" dirty="0" err="1">
                <a:latin typeface="Arial" panose="020B0604020202020204" pitchFamily="34" charset="0"/>
                <a:cs typeface="Arial" panose="020B0604020202020204" pitchFamily="34" charset="0"/>
              </a:rPr>
              <a:t>die_L</a:t>
            </a:r>
            <a:r>
              <a:rPr lang="en-US" sz="1000" dirty="0">
                <a:latin typeface="Arial" panose="020B0604020202020204" pitchFamily="34" charset="0"/>
                <a:cs typeface="Arial" panose="020B0604020202020204" pitchFamily="34" charset="0"/>
              </a:rPr>
              <a:t> = 10000, </a:t>
            </a:r>
            <a:r>
              <a:rPr lang="en-US" sz="1000" dirty="0" err="1">
                <a:latin typeface="Arial" panose="020B0604020202020204" pitchFamily="34" charset="0"/>
                <a:cs typeface="Arial" panose="020B0604020202020204" pitchFamily="34" charset="0"/>
              </a:rPr>
              <a:t>die_W</a:t>
            </a:r>
            <a:r>
              <a:rPr lang="en-US" sz="1000" dirty="0">
                <a:latin typeface="Arial" panose="020B0604020202020204" pitchFamily="34" charset="0"/>
                <a:cs typeface="Arial" panose="020B0604020202020204" pitchFamily="34" charset="0"/>
              </a:rPr>
              <a:t> = 5000, border = 125,io_pitch = 250)</a:t>
            </a:r>
          </a:p>
          <a:p>
            <a:pPr algn="just"/>
            <a:r>
              <a:rPr lang="en-US" sz="1000" dirty="0" err="1">
                <a:latin typeface="Arial" panose="020B0604020202020204" pitchFamily="34" charset="0"/>
                <a:cs typeface="Arial" panose="020B0604020202020204" pitchFamily="34" charset="0"/>
              </a:rPr>
              <a:t>c.draw_ports</a:t>
            </a:r>
            <a:r>
              <a:rPr lang="en-US" sz="1000" dirty="0">
                <a:latin typeface="Arial" panose="020B0604020202020204" pitchFamily="34" charset="0"/>
                <a:cs typeface="Arial" panose="020B0604020202020204" pitchFamily="34" charset="0"/>
              </a:rPr>
              <a:t>()  </a:t>
            </a:r>
          </a:p>
          <a:p>
            <a:pPr algn="just"/>
            <a:r>
              <a:rPr lang="en-US" sz="1000" dirty="0" err="1">
                <a:latin typeface="Arial" panose="020B0604020202020204" pitchFamily="34" charset="0"/>
                <a:cs typeface="Arial" panose="020B0604020202020204" pitchFamily="34" charset="0"/>
              </a:rPr>
              <a:t>c.plot</a:t>
            </a:r>
            <a:r>
              <a:rPr lang="en-US" sz="1000" dirty="0">
                <a:latin typeface="Arial" panose="020B0604020202020204" pitchFamily="34" charset="0"/>
                <a:cs typeface="Arial" panose="020B0604020202020204" pitchFamily="34" charset="0"/>
              </a:rPr>
              <a:t>()        </a:t>
            </a:r>
          </a:p>
          <a:p>
            <a:pPr algn="just"/>
            <a:r>
              <a:rPr lang="en-US" sz="1000" dirty="0" err="1">
                <a:latin typeface="Arial" panose="020B0604020202020204" pitchFamily="34" charset="0"/>
                <a:cs typeface="Arial" panose="020B0604020202020204" pitchFamily="34" charset="0"/>
              </a:rPr>
              <a:t>c.show</a:t>
            </a:r>
            <a:r>
              <a:rPr lang="en-US" sz="10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2A842BE9-138A-7034-1171-F230A34216C9}"/>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2B9BAA5-651D-38A1-CE0F-664EF4E72049}"/>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1CE955A2-BF61-9B69-D7F8-7C0B261298E3}"/>
              </a:ext>
            </a:extLst>
          </p:cNvPr>
          <p:cNvPicPr>
            <a:picLocks noChangeAspect="1"/>
          </p:cNvPicPr>
          <p:nvPr/>
        </p:nvPicPr>
        <p:blipFill>
          <a:blip r:embed="rId4"/>
          <a:stretch>
            <a:fillRect/>
          </a:stretch>
        </p:blipFill>
        <p:spPr>
          <a:xfrm>
            <a:off x="6069049" y="1168032"/>
            <a:ext cx="6485182" cy="4846740"/>
          </a:xfrm>
          <a:prstGeom prst="rect">
            <a:avLst/>
          </a:prstGeom>
        </p:spPr>
      </p:pic>
    </p:spTree>
    <p:extLst>
      <p:ext uri="{BB962C8B-B14F-4D97-AF65-F5344CB8AC3E}">
        <p14:creationId xmlns:p14="http://schemas.microsoft.com/office/powerpoint/2010/main" val="1797098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F1568-7944-69CB-53DB-9E8DC8562F8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D3C64A1-0A8D-39CE-A564-747C3AF5FF9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7DBBEE90-D09C-03E2-4C2C-1B296BED60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2898E69-A51B-F1A5-B967-1AC6E002B35B}"/>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FDFE440C-2036-927F-CF33-B25DDE8AB92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EEEDA902-BBDC-32AB-830E-598E8CFC294C}"/>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r>
              <a:rPr lang="es-ES" dirty="0"/>
              <a:t>c = </a:t>
            </a:r>
            <a:r>
              <a:rPr lang="es-ES" dirty="0" err="1"/>
              <a:t>gf.Component</a:t>
            </a:r>
            <a:r>
              <a:rPr lang="es-ES" dirty="0"/>
              <a:t>()</a:t>
            </a:r>
          </a:p>
          <a:p>
            <a:r>
              <a:rPr lang="es-ES" dirty="0"/>
              <a:t>die = </a:t>
            </a:r>
            <a:r>
              <a:rPr lang="es-ES" dirty="0" err="1"/>
              <a:t>c.add_ref</a:t>
            </a:r>
            <a:r>
              <a:rPr lang="es-ES" dirty="0"/>
              <a:t>(die_4b(</a:t>
            </a:r>
            <a:r>
              <a:rPr lang="es-ES" dirty="0" err="1"/>
              <a:t>die_L</a:t>
            </a:r>
            <a:r>
              <a:rPr lang="es-ES" dirty="0"/>
              <a:t> = 10000, </a:t>
            </a:r>
            <a:r>
              <a:rPr lang="es-ES" dirty="0" err="1"/>
              <a:t>die_W</a:t>
            </a:r>
            <a:r>
              <a:rPr lang="es-ES" dirty="0"/>
              <a:t> = 5000, </a:t>
            </a:r>
            <a:r>
              <a:rPr lang="es-ES" dirty="0" err="1"/>
              <a:t>border</a:t>
            </a:r>
            <a:r>
              <a:rPr lang="es-ES" dirty="0"/>
              <a:t> = 125,io_pitch = 250))</a:t>
            </a:r>
          </a:p>
          <a:p>
            <a:r>
              <a:rPr lang="es-ES" dirty="0" err="1"/>
              <a:t>c.draw_ports</a:t>
            </a:r>
            <a:r>
              <a:rPr lang="es-ES" dirty="0"/>
              <a:t>()</a:t>
            </a:r>
          </a:p>
          <a:p>
            <a:r>
              <a:rPr lang="es-ES" dirty="0" err="1"/>
              <a:t>c.plot</a:t>
            </a:r>
            <a:r>
              <a:rPr lang="es-ES" dirty="0"/>
              <a:t>()</a:t>
            </a:r>
          </a:p>
          <a:p>
            <a:r>
              <a:rPr lang="es-ES" dirty="0" err="1"/>
              <a:t>c.show</a:t>
            </a:r>
            <a:r>
              <a:rPr lang="es-ES" dirty="0"/>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52074F86-C12D-8199-D6B2-3FCA8884DF04}"/>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E45D5A4-874F-BCAD-5BB5-393A05DBB975}"/>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1FB0CAC4-F852-5BEE-CCB9-0EE401027828}"/>
              </a:ext>
            </a:extLst>
          </p:cNvPr>
          <p:cNvPicPr>
            <a:picLocks noChangeAspect="1"/>
          </p:cNvPicPr>
          <p:nvPr/>
        </p:nvPicPr>
        <p:blipFill>
          <a:blip r:embed="rId4"/>
          <a:stretch>
            <a:fillRect/>
          </a:stretch>
        </p:blipFill>
        <p:spPr>
          <a:xfrm>
            <a:off x="6183005" y="1067697"/>
            <a:ext cx="6454699" cy="4976291"/>
          </a:xfrm>
          <a:prstGeom prst="rect">
            <a:avLst/>
          </a:prstGeom>
        </p:spPr>
      </p:pic>
    </p:spTree>
    <p:extLst>
      <p:ext uri="{BB962C8B-B14F-4D97-AF65-F5344CB8AC3E}">
        <p14:creationId xmlns:p14="http://schemas.microsoft.com/office/powerpoint/2010/main" val="1576265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228C0-B236-13B0-C91A-52270911E75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CC60CF5-4134-36BF-352B-0E51DD47A0B2}"/>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1846479-53AE-FD15-AC3E-F2429BC94E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4BEDD2E-A103-D482-1980-A781DF726485}"/>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4A3C4115-38EF-C75F-47D7-3981C337EEF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0D15F55C-5272-FE14-3A3A-2F952F423E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000" dirty="0">
                <a:latin typeface="Arial" panose="020B0604020202020204" pitchFamily="34" charset="0"/>
                <a:cs typeface="Arial" panose="020B0604020202020204" pitchFamily="34" charset="0"/>
              </a:rPr>
              <a:t>Add 3 sets of 3 straight waveguides, from left to right of the die, top, middle and bottom of the </a:t>
            </a:r>
            <a:r>
              <a:rPr lang="en-US" sz="1000" dirty="0" err="1">
                <a:latin typeface="Arial" panose="020B0604020202020204" pitchFamily="34" charset="0"/>
                <a:cs typeface="Arial" panose="020B0604020202020204" pitchFamily="34" charset="0"/>
              </a:rPr>
              <a:t>dieprint</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Añadiendo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3 </a:t>
            </a:r>
            <a:r>
              <a:rPr lang="en-US" sz="1000" dirty="0" err="1">
                <a:latin typeface="Arial" panose="020B0604020202020204" pitchFamily="34" charset="0"/>
                <a:cs typeface="Arial" panose="020B0604020202020204" pitchFamily="34" charset="0"/>
              </a:rPr>
              <a:t>bloques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compactos</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guías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rectas</a:t>
            </a:r>
            <a:r>
              <a:rPr lang="en-US" sz="1000" dirty="0">
                <a:latin typeface="Arial" panose="020B0604020202020204" pitchFamily="34" charset="0"/>
                <a:cs typeface="Arial" panose="020B0604020202020204" pitchFamily="34" charset="0"/>
              </a:rPr>
              <a:t> de test...")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Definimos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canales </a:t>
            </a:r>
            <a:r>
              <a:rPr lang="en-US" sz="1000" dirty="0" err="1">
                <a:latin typeface="Arial" panose="020B0604020202020204" pitchFamily="34" charset="0"/>
                <a:cs typeface="Arial" panose="020B0604020202020204" pitchFamily="34" charset="0"/>
              </a:rPr>
              <a:t>simétricos</a:t>
            </a:r>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canales_rectas</a:t>
            </a:r>
            <a:r>
              <a:rPr lang="en-US" sz="1000" dirty="0">
                <a:latin typeface="Arial" panose="020B0604020202020204" pitchFamily="34" charset="0"/>
                <a:cs typeface="Arial" panose="020B0604020202020204" pitchFamily="34" charset="0"/>
              </a:rPr>
              <a:t> = [</a:t>
            </a:r>
          </a:p>
          <a:p>
            <a:pPr algn="just"/>
            <a:r>
              <a:rPr lang="en-US" sz="1000" dirty="0">
                <a:latin typeface="Arial" panose="020B0604020202020204" pitchFamily="34" charset="0"/>
                <a:cs typeface="Arial" panose="020B0604020202020204" pitchFamily="34" charset="0"/>
              </a:rPr>
              <a:t>    2, 3, 4,       # Set de </a:t>
            </a:r>
            <a:r>
              <a:rPr lang="en-US" sz="1000" dirty="0" err="1">
                <a:latin typeface="Arial" panose="020B0604020202020204" pitchFamily="34" charset="0"/>
                <a:cs typeface="Arial" panose="020B0604020202020204" pitchFamily="34" charset="0"/>
              </a:rPr>
              <a:t>abajo</a:t>
            </a:r>
            <a:r>
              <a:rPr lang="en-US" sz="1000" dirty="0">
                <a:latin typeface="Arial" panose="020B0604020202020204" pitchFamily="34" charset="0"/>
                <a:cs typeface="Arial" panose="020B0604020202020204" pitchFamily="34" charset="0"/>
              </a:rPr>
              <a:t> (Bottom)</a:t>
            </a:r>
          </a:p>
          <a:p>
            <a:pPr algn="just"/>
            <a:r>
              <a:rPr lang="en-US" sz="1000" dirty="0">
                <a:latin typeface="Arial" panose="020B0604020202020204" pitchFamily="34" charset="0"/>
                <a:cs typeface="Arial" panose="020B0604020202020204" pitchFamily="34" charset="0"/>
              </a:rPr>
              <a:t>    18, 19, 20,    # Set del medio (Middle)</a:t>
            </a:r>
          </a:p>
          <a:p>
            <a:pPr algn="just"/>
            <a:r>
              <a:rPr lang="en-US" sz="1000" dirty="0">
                <a:latin typeface="Arial" panose="020B0604020202020204" pitchFamily="34" charset="0"/>
                <a:cs typeface="Arial" panose="020B0604020202020204" pitchFamily="34" charset="0"/>
              </a:rPr>
              <a:t>    35, 36, 37     # Set de </a:t>
            </a:r>
            <a:r>
              <a:rPr lang="en-US" sz="1000" dirty="0" err="1">
                <a:latin typeface="Arial" panose="020B0604020202020204" pitchFamily="34" charset="0"/>
                <a:cs typeface="Arial" panose="020B0604020202020204" pitchFamily="34" charset="0"/>
              </a:rPr>
              <a:t>arriba</a:t>
            </a:r>
            <a:r>
              <a:rPr lang="en-US" sz="1000" dirty="0">
                <a:latin typeface="Arial" panose="020B0604020202020204" pitchFamily="34" charset="0"/>
                <a:cs typeface="Arial" panose="020B0604020202020204" pitchFamily="34" charset="0"/>
              </a:rPr>
              <a:t> (Top)</a:t>
            </a:r>
          </a:p>
          <a:p>
            <a:pPr algn="just"/>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xs_deep</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gf.cross_section.strip</a:t>
            </a:r>
            <a:r>
              <a:rPr lang="en-US" sz="1000" dirty="0">
                <a:latin typeface="Arial" panose="020B0604020202020204" pitchFamily="34" charset="0"/>
                <a:cs typeface="Arial" panose="020B0604020202020204" pitchFamily="34" charset="0"/>
              </a:rPr>
              <a:t>(width=1.2, layer='WG', </a:t>
            </a:r>
            <a:r>
              <a:rPr lang="en-US" sz="1000" dirty="0" err="1">
                <a:latin typeface="Arial" panose="020B0604020202020204" pitchFamily="34" charset="0"/>
                <a:cs typeface="Arial" panose="020B0604020202020204" pitchFamily="34" charset="0"/>
              </a:rPr>
              <a:t>radius_min</a:t>
            </a:r>
            <a:r>
              <a:rPr lang="en-US" sz="1000" dirty="0">
                <a:latin typeface="Arial" panose="020B0604020202020204" pitchFamily="34" charset="0"/>
                <a:cs typeface="Arial" panose="020B0604020202020204" pitchFamily="34" charset="0"/>
              </a:rPr>
              <a:t>=10.0)</a:t>
            </a:r>
          </a:p>
          <a:p>
            <a:pPr algn="just"/>
            <a:r>
              <a:rPr lang="en-US" sz="1000" dirty="0">
                <a:latin typeface="Arial" panose="020B0604020202020204" pitchFamily="34" charset="0"/>
                <a:cs typeface="Arial" panose="020B0604020202020204" pitchFamily="34" charset="0"/>
              </a:rPr>
              <a:t>for </a:t>
            </a:r>
            <a:r>
              <a:rPr lang="en-US" sz="1000" dirty="0" err="1">
                <a:latin typeface="Arial" panose="020B0604020202020204" pitchFamily="34" charset="0"/>
                <a:cs typeface="Arial" panose="020B0604020202020204" pitchFamily="34" charset="0"/>
              </a:rPr>
              <a:t>ch</a:t>
            </a:r>
            <a:r>
              <a:rPr lang="en-US" sz="1000" dirty="0">
                <a:latin typeface="Arial" panose="020B0604020202020204" pitchFamily="34" charset="0"/>
                <a:cs typeface="Arial" panose="020B0604020202020204" pitchFamily="34" charset="0"/>
              </a:rPr>
              <a:t> in </a:t>
            </a:r>
            <a:r>
              <a:rPr lang="en-US" sz="1000" dirty="0" err="1">
                <a:latin typeface="Arial" panose="020B0604020202020204" pitchFamily="34" charset="0"/>
                <a:cs typeface="Arial" panose="020B0604020202020204" pitchFamily="34" charset="0"/>
              </a:rPr>
              <a:t>canales_rectas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longitud_recta</a:t>
            </a:r>
            <a:r>
              <a:rPr lang="en-US" sz="1000" dirty="0">
                <a:latin typeface="Arial" panose="020B0604020202020204" pitchFamily="34" charset="0"/>
                <a:cs typeface="Arial" panose="020B0604020202020204" pitchFamily="34" charset="0"/>
              </a:rPr>
              <a:t> = 5000 - (125 * 2)</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Creamos</a:t>
            </a:r>
            <a:r>
              <a:rPr lang="en-US" sz="1000" dirty="0">
                <a:latin typeface="Arial" panose="020B0604020202020204" pitchFamily="34" charset="0"/>
                <a:cs typeface="Arial" panose="020B0604020202020204" pitchFamily="34" charset="0"/>
              </a:rPr>
              <a:t> la recta</a:t>
            </a:r>
          </a:p>
          <a:p>
            <a:pPr algn="just"/>
            <a:r>
              <a:rPr lang="en-US" sz="1000" dirty="0">
                <a:latin typeface="Arial" panose="020B0604020202020204" pitchFamily="34" charset="0"/>
                <a:cs typeface="Arial" panose="020B0604020202020204" pitchFamily="34" charset="0"/>
              </a:rPr>
              <a:t>    recta = </a:t>
            </a:r>
            <a:r>
              <a:rPr lang="en-US" sz="1000" dirty="0" err="1">
                <a:latin typeface="Arial" panose="020B0604020202020204" pitchFamily="34" charset="0"/>
                <a:cs typeface="Arial" panose="020B0604020202020204" pitchFamily="34" charset="0"/>
              </a:rPr>
              <a:t>c.add_ref</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gf.components.straight</a:t>
            </a:r>
            <a:r>
              <a:rPr lang="en-US" sz="1000" dirty="0">
                <a:latin typeface="Arial" panose="020B0604020202020204" pitchFamily="34" charset="0"/>
                <a:cs typeface="Arial" panose="020B0604020202020204" pitchFamily="34" charset="0"/>
              </a:rPr>
              <a:t>(length=</a:t>
            </a:r>
            <a:r>
              <a:rPr lang="en-US" sz="1000" dirty="0" err="1">
                <a:latin typeface="Arial" panose="020B0604020202020204" pitchFamily="34" charset="0"/>
                <a:cs typeface="Arial" panose="020B0604020202020204" pitchFamily="34" charset="0"/>
              </a:rPr>
              <a:t>longitud_recta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cross_section</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xs_deep</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nombre_puerto</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f'A</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ch</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Conectamos</a:t>
            </a:r>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recta.connect</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"o1",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die.ports</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nombre_puerto</a:t>
            </a:r>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allow_width_mismatch</a:t>
            </a:r>
            <a:r>
              <a:rPr lang="en-US" sz="1000" dirty="0">
                <a:latin typeface="Arial" panose="020B0604020202020204" pitchFamily="34" charset="0"/>
                <a:cs typeface="Arial" panose="020B0604020202020204" pitchFamily="34" charset="0"/>
              </a:rPr>
              <a:t>=True # (O </a:t>
            </a:r>
            <a:r>
              <a:rPr lang="en-US" sz="1000" dirty="0" err="1">
                <a:latin typeface="Arial" panose="020B0604020202020204" pitchFamily="34" charset="0"/>
                <a:cs typeface="Arial" panose="020B0604020202020204" pitchFamily="34" charset="0"/>
              </a:rPr>
              <a:t>quita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esto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si</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ya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igualaste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anchos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paso anterior)</a:t>
            </a:r>
          </a:p>
          <a:p>
            <a:pPr algn="just"/>
            <a:r>
              <a:rPr lang="en-US" sz="1000" dirty="0">
                <a:latin typeface="Arial" panose="020B0604020202020204" pitchFamily="34" charset="0"/>
                <a:cs typeface="Arial" panose="020B0604020202020204" pitchFamily="34" charset="0"/>
              </a:rPr>
              <a:t>    )</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print("Paso 2 </a:t>
            </a:r>
            <a:r>
              <a:rPr lang="en-US" sz="1000" dirty="0" err="1">
                <a:latin typeface="Arial" panose="020B0604020202020204" pitchFamily="34" charset="0"/>
                <a:cs typeface="Arial" panose="020B0604020202020204" pitchFamily="34" charset="0"/>
              </a:rPr>
              <a:t>completado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Añadidas</a:t>
            </a:r>
            <a:r>
              <a:rPr lang="en-US" sz="1000" dirty="0">
                <a:latin typeface="Arial" panose="020B0604020202020204" pitchFamily="34" charset="0"/>
                <a:cs typeface="Arial" panose="020B0604020202020204" pitchFamily="34" charset="0"/>
              </a:rPr>
              <a:t> las 9 </a:t>
            </a:r>
            <a:r>
              <a:rPr lang="en-US" sz="1000" dirty="0" err="1">
                <a:latin typeface="Arial" panose="020B0604020202020204" pitchFamily="34" charset="0"/>
                <a:cs typeface="Arial" panose="020B0604020202020204" pitchFamily="34" charset="0"/>
              </a:rPr>
              <a:t>guías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rectas</a:t>
            </a:r>
            <a:r>
              <a:rPr lang="en-US" sz="1000" dirty="0">
                <a:latin typeface="Arial" panose="020B0604020202020204" pitchFamily="34" charset="0"/>
                <a:cs typeface="Arial" panose="020B0604020202020204" pitchFamily="34" charset="0"/>
              </a:rPr>
              <a:t> de test </a:t>
            </a:r>
            <a:r>
              <a:rPr lang="en-US" sz="1000" dirty="0" err="1">
                <a:latin typeface="Arial" panose="020B0604020202020204" pitchFamily="34" charset="0"/>
                <a:cs typeface="Arial" panose="020B0604020202020204" pitchFamily="34" charset="0"/>
              </a:rPr>
              <a:t>como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separadores</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Visualización</a:t>
            </a:r>
            <a:r>
              <a:rPr lang="en-US" sz="1000" dirty="0">
                <a:latin typeface="Arial" panose="020B0604020202020204" pitchFamily="34" charset="0"/>
                <a:cs typeface="Arial" panose="020B0604020202020204" pitchFamily="34" charset="0"/>
              </a:rPr>
              <a:t> de las </a:t>
            </a:r>
            <a:r>
              <a:rPr lang="en-US" sz="1000" dirty="0" err="1">
                <a:latin typeface="Arial" panose="020B0604020202020204" pitchFamily="34" charset="0"/>
                <a:cs typeface="Arial" panose="020B0604020202020204" pitchFamily="34" charset="0"/>
              </a:rPr>
              <a:t>guías</a:t>
            </a:r>
            <a:r>
              <a:rPr lang="en-US" sz="1000" dirty="0">
                <a:latin typeface="Arial" panose="020B0604020202020204" pitchFamily="34" charset="0"/>
                <a:cs typeface="Arial" panose="020B0604020202020204" pitchFamily="34" charset="0"/>
              </a:rPr>
              <a:t> de test </a:t>
            </a:r>
            <a:r>
              <a:rPr lang="en-US" sz="1000" dirty="0" err="1">
                <a:latin typeface="Arial" panose="020B0604020202020204" pitchFamily="34" charset="0"/>
                <a:cs typeface="Arial" panose="020B0604020202020204" pitchFamily="34" charset="0"/>
              </a:rPr>
              <a:t>cruzando</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máscara</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lado</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lado</a:t>
            </a:r>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c.plot</a:t>
            </a:r>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c.show</a:t>
            </a:r>
            <a:r>
              <a:rPr lang="en-US" sz="1000" dirty="0">
                <a:latin typeface="Arial" panose="020B0604020202020204" pitchFamily="34" charset="0"/>
                <a:cs typeface="Arial" panose="020B0604020202020204" pitchFamily="34" charset="0"/>
              </a:rPr>
              <a:t>()</a:t>
            </a:r>
          </a:p>
          <a:p>
            <a:pPr marL="171450" indent="-171450" algn="just">
              <a:buFontTx/>
              <a:buChar char="-"/>
            </a:pP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marL="171450" indent="-171450" algn="just">
              <a:buFontTx/>
              <a:buChar char="-"/>
            </a:pP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BFC1940-BFAD-4364-F447-EE0748D480B1}"/>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3D03506-156C-4A1B-023F-9D92E80CDB15}"/>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C3A50C12-C01A-3275-393B-80DC9D6441DD}"/>
              </a:ext>
            </a:extLst>
          </p:cNvPr>
          <p:cNvPicPr>
            <a:picLocks noChangeAspect="1"/>
          </p:cNvPicPr>
          <p:nvPr/>
        </p:nvPicPr>
        <p:blipFill>
          <a:blip r:embed="rId4"/>
          <a:stretch>
            <a:fillRect/>
          </a:stretch>
        </p:blipFill>
        <p:spPr>
          <a:xfrm>
            <a:off x="6248400" y="1067384"/>
            <a:ext cx="6530906" cy="4915326"/>
          </a:xfrm>
          <a:prstGeom prst="rect">
            <a:avLst/>
          </a:prstGeom>
        </p:spPr>
      </p:pic>
    </p:spTree>
    <p:extLst>
      <p:ext uri="{BB962C8B-B14F-4D97-AF65-F5344CB8AC3E}">
        <p14:creationId xmlns:p14="http://schemas.microsoft.com/office/powerpoint/2010/main" val="1535427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CDAA3-8D65-082B-C67A-8AFE5DF9F14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6C4A8DF-4A43-E93F-57D8-6DBEAAD9C278}"/>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20E8CB0B-5771-9045-E4F2-3AFCDE99BF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32075D8-D41E-BF7C-065F-11795AFE88A2}"/>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22BA0AE9-A085-27C4-9DDC-0A5842C2E8E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20571D7-76EC-4230-7B1E-DF20DC0DD085}"/>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000" dirty="0" err="1">
                <a:latin typeface="Arial" panose="020B0604020202020204" pitchFamily="34" charset="0"/>
                <a:cs typeface="Arial" panose="020B0604020202020204" pitchFamily="34" charset="0"/>
              </a:rPr>
              <a:t>gf.clear_cache</a:t>
            </a:r>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xs_io</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gf.cross_section.strip</a:t>
            </a:r>
            <a:r>
              <a:rPr lang="en-US" sz="1000" dirty="0">
                <a:latin typeface="Arial" panose="020B0604020202020204" pitchFamily="34" charset="0"/>
                <a:cs typeface="Arial" panose="020B0604020202020204" pitchFamily="34" charset="0"/>
              </a:rPr>
              <a:t>(width=1.2, layer="WG", </a:t>
            </a:r>
            <a:r>
              <a:rPr lang="en-US" sz="1000" dirty="0" err="1">
                <a:latin typeface="Arial" panose="020B0604020202020204" pitchFamily="34" charset="0"/>
                <a:cs typeface="Arial" panose="020B0604020202020204" pitchFamily="34" charset="0"/>
              </a:rPr>
              <a:t>radius_min</a:t>
            </a:r>
            <a:r>
              <a:rPr lang="en-US" sz="1000" dirty="0">
                <a:latin typeface="Arial" panose="020B0604020202020204" pitchFamily="34" charset="0"/>
                <a:cs typeface="Arial" panose="020B0604020202020204" pitchFamily="34" charset="0"/>
              </a:rPr>
              <a:t>=10.0)</a:t>
            </a:r>
          </a:p>
          <a:p>
            <a:pPr algn="just"/>
            <a:endParaRPr lang="en-U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chip = </a:t>
            </a:r>
            <a:r>
              <a:rPr lang="en-US" sz="1000" dirty="0" err="1">
                <a:latin typeface="Arial" panose="020B0604020202020204" pitchFamily="34" charset="0"/>
                <a:cs typeface="Arial" panose="020B0604020202020204" pitchFamily="34" charset="0"/>
              </a:rPr>
              <a:t>gf.Component</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Tapeout_Final_Master</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LARGO_Y = 10000 </a:t>
            </a:r>
          </a:p>
          <a:p>
            <a:pPr algn="just"/>
            <a:r>
              <a:rPr lang="en-US" sz="1000" dirty="0">
                <a:latin typeface="Arial" panose="020B0604020202020204" pitchFamily="34" charset="0"/>
                <a:cs typeface="Arial" panose="020B0604020202020204" pitchFamily="34" charset="0"/>
              </a:rPr>
              <a:t>ANCHO_X = 5000  </a:t>
            </a: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die_ref</a:t>
            </a:r>
            <a:r>
              <a:rPr lang="en-US" sz="1000" dirty="0">
                <a:latin typeface="Arial" panose="020B0604020202020204" pitchFamily="34" charset="0"/>
                <a:cs typeface="Arial" panose="020B0604020202020204" pitchFamily="34" charset="0"/>
              </a:rPr>
              <a:t> = chip &lt;&lt; die_4b(</a:t>
            </a:r>
            <a:r>
              <a:rPr lang="en-US" sz="1000" dirty="0" err="1">
                <a:latin typeface="Arial" panose="020B0604020202020204" pitchFamily="34" charset="0"/>
                <a:cs typeface="Arial" panose="020B0604020202020204" pitchFamily="34" charset="0"/>
              </a:rPr>
              <a:t>die_L</a:t>
            </a:r>
            <a:r>
              <a:rPr lang="en-US" sz="1000" dirty="0">
                <a:latin typeface="Arial" panose="020B0604020202020204" pitchFamily="34" charset="0"/>
                <a:cs typeface="Arial" panose="020B0604020202020204" pitchFamily="34" charset="0"/>
              </a:rPr>
              <a:t>=LARGO_Y, </a:t>
            </a:r>
            <a:r>
              <a:rPr lang="en-US" sz="1000" dirty="0" err="1">
                <a:latin typeface="Arial" panose="020B0604020202020204" pitchFamily="34" charset="0"/>
                <a:cs typeface="Arial" panose="020B0604020202020204" pitchFamily="34" charset="0"/>
              </a:rPr>
              <a:t>die_W</a:t>
            </a:r>
            <a:r>
              <a:rPr lang="en-US" sz="1000" dirty="0">
                <a:latin typeface="Arial" panose="020B0604020202020204" pitchFamily="34" charset="0"/>
                <a:cs typeface="Arial" panose="020B0604020202020204" pitchFamily="34" charset="0"/>
              </a:rPr>
              <a:t>=ANCHO_X, border=125, </a:t>
            </a:r>
            <a:r>
              <a:rPr lang="en-US" sz="1000" dirty="0" err="1">
                <a:latin typeface="Arial" panose="020B0604020202020204" pitchFamily="34" charset="0"/>
                <a:cs typeface="Arial" panose="020B0604020202020204" pitchFamily="34" charset="0"/>
              </a:rPr>
              <a:t>io_pitch</a:t>
            </a:r>
            <a:r>
              <a:rPr lang="en-US" sz="1000" dirty="0">
                <a:latin typeface="Arial" panose="020B0604020202020204" pitchFamily="34" charset="0"/>
                <a:cs typeface="Arial" panose="020B0604020202020204" pitchFamily="34" charset="0"/>
              </a:rPr>
              <a:t>=250)</a:t>
            </a:r>
          </a:p>
          <a:p>
            <a:pPr algn="ctr"/>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print("</a:t>
            </a:r>
            <a:r>
              <a:rPr lang="en-US" sz="1000" dirty="0" err="1">
                <a:latin typeface="Arial" panose="020B0604020202020204" pitchFamily="34" charset="0"/>
                <a:cs typeface="Arial" panose="020B0604020202020204" pitchFamily="34" charset="0"/>
              </a:rPr>
              <a:t>Añadiendo</a:t>
            </a:r>
            <a:r>
              <a:rPr lang="en-US" sz="1000" dirty="0">
                <a:latin typeface="Arial" panose="020B0604020202020204" pitchFamily="34" charset="0"/>
                <a:cs typeface="Arial" panose="020B0604020202020204" pitchFamily="34" charset="0"/>
              </a:rPr>
              <a:t> 3 </a:t>
            </a:r>
            <a:r>
              <a:rPr lang="en-US" sz="1000" dirty="0" err="1">
                <a:latin typeface="Arial" panose="020B0604020202020204" pitchFamily="34" charset="0"/>
                <a:cs typeface="Arial" panose="020B0604020202020204" pitchFamily="34" charset="0"/>
              </a:rPr>
              <a:t>bloques</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guías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rectas</a:t>
            </a:r>
            <a:r>
              <a:rPr lang="en-US" sz="1000" dirty="0">
                <a:latin typeface="Arial" panose="020B0604020202020204" pitchFamily="34" charset="0"/>
                <a:cs typeface="Arial" panose="020B0604020202020204" pitchFamily="34" charset="0"/>
              </a:rPr>
              <a:t>...")</a:t>
            </a:r>
          </a:p>
          <a:p>
            <a:pPr algn="just"/>
            <a:r>
              <a:rPr lang="en-US" sz="1000" dirty="0" err="1">
                <a:latin typeface="Arial" panose="020B0604020202020204" pitchFamily="34" charset="0"/>
                <a:cs typeface="Arial" panose="020B0604020202020204" pitchFamily="34" charset="0"/>
              </a:rPr>
              <a:t>canales_rectas</a:t>
            </a:r>
            <a:r>
              <a:rPr lang="en-US" sz="1000" dirty="0">
                <a:latin typeface="Arial" panose="020B0604020202020204" pitchFamily="34" charset="0"/>
                <a:cs typeface="Arial" panose="020B0604020202020204" pitchFamily="34" charset="0"/>
              </a:rPr>
              <a:t> = [2, 3, 4, 18, 19, 20, 35, 36, 37]</a:t>
            </a:r>
          </a:p>
          <a:p>
            <a:pPr algn="just"/>
            <a:r>
              <a:rPr lang="en-US" sz="1000" dirty="0" err="1">
                <a:latin typeface="Arial" panose="020B0604020202020204" pitchFamily="34" charset="0"/>
                <a:cs typeface="Arial" panose="020B0604020202020204" pitchFamily="34" charset="0"/>
              </a:rPr>
              <a:t>longitud_cruce</a:t>
            </a:r>
            <a:r>
              <a:rPr lang="en-US" sz="1000" dirty="0">
                <a:latin typeface="Arial" panose="020B0604020202020204" pitchFamily="34" charset="0"/>
                <a:cs typeface="Arial" panose="020B0604020202020204" pitchFamily="34" charset="0"/>
              </a:rPr>
              <a:t> = ANCHO_X - (125 * 2) </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for </a:t>
            </a:r>
            <a:r>
              <a:rPr lang="en-US" sz="1000" dirty="0" err="1">
                <a:latin typeface="Arial" panose="020B0604020202020204" pitchFamily="34" charset="0"/>
                <a:cs typeface="Arial" panose="020B0604020202020204" pitchFamily="34" charset="0"/>
              </a:rPr>
              <a:t>ch</a:t>
            </a:r>
            <a:r>
              <a:rPr lang="en-US" sz="1000" dirty="0">
                <a:latin typeface="Arial" panose="020B0604020202020204" pitchFamily="34" charset="0"/>
                <a:cs typeface="Arial" panose="020B0604020202020204" pitchFamily="34" charset="0"/>
              </a:rPr>
              <a:t> in </a:t>
            </a:r>
            <a:r>
              <a:rPr lang="en-US" sz="1000" dirty="0" err="1">
                <a:latin typeface="Arial" panose="020B0604020202020204" pitchFamily="34" charset="0"/>
                <a:cs typeface="Arial" panose="020B0604020202020204" pitchFamily="34" charset="0"/>
              </a:rPr>
              <a:t>canales_rectas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recta = chip &lt;&lt; </a:t>
            </a:r>
            <a:r>
              <a:rPr lang="en-US" sz="1000" dirty="0" err="1">
                <a:latin typeface="Arial" panose="020B0604020202020204" pitchFamily="34" charset="0"/>
                <a:cs typeface="Arial" panose="020B0604020202020204" pitchFamily="34" charset="0"/>
              </a:rPr>
              <a:t>gf.components.straight</a:t>
            </a:r>
            <a:r>
              <a:rPr lang="en-US" sz="1000" dirty="0">
                <a:latin typeface="Arial" panose="020B0604020202020204" pitchFamily="34" charset="0"/>
                <a:cs typeface="Arial" panose="020B0604020202020204" pitchFamily="34" charset="0"/>
              </a:rPr>
              <a:t>(length=</a:t>
            </a:r>
            <a:r>
              <a:rPr lang="en-US" sz="1000" dirty="0" err="1">
                <a:latin typeface="Arial" panose="020B0604020202020204" pitchFamily="34" charset="0"/>
                <a:cs typeface="Arial" panose="020B0604020202020204" pitchFamily="34" charset="0"/>
              </a:rPr>
              <a:t>longitud_cruce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cross_section</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xs_io</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recta.connect</a:t>
            </a:r>
            <a:r>
              <a:rPr lang="en-US" sz="1000" dirty="0">
                <a:latin typeface="Arial" panose="020B0604020202020204" pitchFamily="34" charset="0"/>
                <a:cs typeface="Arial" panose="020B0604020202020204" pitchFamily="34" charset="0"/>
              </a:rPr>
              <a:t>("o1", </a:t>
            </a:r>
            <a:r>
              <a:rPr lang="en-US" sz="1000" dirty="0" err="1">
                <a:latin typeface="Arial" panose="020B0604020202020204" pitchFamily="34" charset="0"/>
                <a:cs typeface="Arial" panose="020B0604020202020204" pitchFamily="34" charset="0"/>
              </a:rPr>
              <a:t>die_ref.ports</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f'A</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ch</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allow_width_mismatch</a:t>
            </a:r>
            <a:r>
              <a:rPr lang="en-US" sz="1000" dirty="0">
                <a:latin typeface="Arial" panose="020B0604020202020204" pitchFamily="34" charset="0"/>
                <a:cs typeface="Arial" panose="020B0604020202020204" pitchFamily="34" charset="0"/>
              </a:rPr>
              <a:t>=True)</a:t>
            </a:r>
          </a:p>
          <a:p>
            <a:pPr algn="just"/>
            <a:endParaRPr lang="en-U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print("</a:t>
            </a:r>
            <a:r>
              <a:rPr lang="en-US" sz="1000" dirty="0" err="1">
                <a:latin typeface="Arial" panose="020B0604020202020204" pitchFamily="34" charset="0"/>
                <a:cs typeface="Arial" panose="020B0604020202020204" pitchFamily="34" charset="0"/>
              </a:rPr>
              <a:t>Colocando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componentes</a:t>
            </a:r>
            <a:r>
              <a:rPr lang="en-US" sz="1000" dirty="0">
                <a:latin typeface="Arial" panose="020B0604020202020204" pitchFamily="34" charset="0"/>
                <a:cs typeface="Arial" panose="020B0604020202020204" pitchFamily="34" charset="0"/>
              </a:rPr>
              <a:t> de la </a:t>
            </a:r>
            <a:r>
              <a:rPr lang="en-US" sz="1000" dirty="0" err="1">
                <a:latin typeface="Arial" panose="020B0604020202020204" pitchFamily="34" charset="0"/>
                <a:cs typeface="Arial" panose="020B0604020202020204" pitchFamily="34" charset="0"/>
              </a:rPr>
              <a:t>Parte</a:t>
            </a:r>
            <a:r>
              <a:rPr lang="en-US" sz="1000" dirty="0">
                <a:latin typeface="Arial" panose="020B0604020202020204" pitchFamily="34" charset="0"/>
                <a:cs typeface="Arial" panose="020B0604020202020204" pitchFamily="34" charset="0"/>
              </a:rPr>
              <a:t> 4a...")</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mmi_1 = chip &lt;&lt; </a:t>
            </a:r>
            <a:r>
              <a:rPr lang="en-US" sz="1000" dirty="0" err="1">
                <a:latin typeface="Arial" panose="020B0604020202020204" pitchFamily="34" charset="0"/>
                <a:cs typeface="Arial" panose="020B0604020202020204" pitchFamily="34" charset="0"/>
              </a:rPr>
              <a:t>unbalanced_mzi</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delta_length</a:t>
            </a:r>
            <a:r>
              <a:rPr lang="en-US" sz="1000" dirty="0">
                <a:latin typeface="Arial" panose="020B0604020202020204" pitchFamily="34" charset="0"/>
                <a:cs typeface="Arial" panose="020B0604020202020204" pitchFamily="34" charset="0"/>
              </a:rPr>
              <a:t>=100)</a:t>
            </a:r>
          </a:p>
          <a:p>
            <a:pPr algn="just"/>
            <a:r>
              <a:rPr lang="en-US" sz="1000" dirty="0">
                <a:latin typeface="Arial" panose="020B0604020202020204" pitchFamily="34" charset="0"/>
                <a:cs typeface="Arial" panose="020B0604020202020204" pitchFamily="34" charset="0"/>
              </a:rPr>
              <a:t>mmi_2 = chip &lt;&lt; </a:t>
            </a:r>
            <a:r>
              <a:rPr lang="en-US" sz="1000" dirty="0" err="1">
                <a:latin typeface="Arial" panose="020B0604020202020204" pitchFamily="34" charset="0"/>
                <a:cs typeface="Arial" panose="020B0604020202020204" pitchFamily="34" charset="0"/>
              </a:rPr>
              <a:t>unbalanced_mzi</a:t>
            </a:r>
            <a:r>
              <a:rPr lang="en-US" sz="1000" dirty="0">
                <a:latin typeface="Arial" panose="020B0604020202020204" pitchFamily="34" charset="0"/>
                <a:cs typeface="Arial" panose="020B0604020202020204" pitchFamily="34" charset="0"/>
              </a:rPr>
              <a:t>(</a:t>
            </a:r>
            <a:r>
              <a:rPr lang="en-US" sz="1000" dirty="0" err="1">
                <a:latin typeface="Arial" panose="020B0604020202020204" pitchFamily="34" charset="0"/>
                <a:cs typeface="Arial" panose="020B0604020202020204" pitchFamily="34" charset="0"/>
              </a:rPr>
              <a:t>delta_length</a:t>
            </a:r>
            <a:r>
              <a:rPr lang="en-US" sz="1000" dirty="0">
                <a:latin typeface="Arial" panose="020B0604020202020204" pitchFamily="34" charset="0"/>
                <a:cs typeface="Arial" panose="020B0604020202020204" pitchFamily="34" charset="0"/>
              </a:rPr>
              <a:t>=300)</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ring_1 = chip &lt;&lt; ring(</a:t>
            </a:r>
            <a:r>
              <a:rPr lang="en-US" sz="1000" dirty="0" err="1">
                <a:latin typeface="Arial" panose="020B0604020202020204" pitchFamily="34" charset="0"/>
                <a:cs typeface="Arial" panose="020B0604020202020204" pitchFamily="34" charset="0"/>
              </a:rPr>
              <a:t>extra_length</a:t>
            </a:r>
            <a:r>
              <a:rPr lang="en-US" sz="1000" dirty="0">
                <a:latin typeface="Arial" panose="020B0604020202020204" pitchFamily="34" charset="0"/>
                <a:cs typeface="Arial" panose="020B0604020202020204" pitchFamily="34" charset="0"/>
              </a:rPr>
              <a:t>=40)</a:t>
            </a:r>
          </a:p>
          <a:p>
            <a:pPr algn="just"/>
            <a:r>
              <a:rPr lang="en-US" sz="1000" dirty="0">
                <a:latin typeface="Arial" panose="020B0604020202020204" pitchFamily="34" charset="0"/>
                <a:cs typeface="Arial" panose="020B0604020202020204" pitchFamily="34" charset="0"/>
              </a:rPr>
              <a:t>ring_2 = chip &lt;&lt; ring(</a:t>
            </a:r>
            <a:r>
              <a:rPr lang="en-US" sz="1000" dirty="0" err="1">
                <a:latin typeface="Arial" panose="020B0604020202020204" pitchFamily="34" charset="0"/>
                <a:cs typeface="Arial" panose="020B0604020202020204" pitchFamily="34" charset="0"/>
              </a:rPr>
              <a:t>extra_length</a:t>
            </a:r>
            <a:r>
              <a:rPr lang="en-US" sz="1000" dirty="0">
                <a:latin typeface="Arial" panose="020B0604020202020204" pitchFamily="34" charset="0"/>
                <a:cs typeface="Arial" panose="020B0604020202020204" pitchFamily="34" charset="0"/>
              </a:rPr>
              <a:t>=300)</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heater_1 = chip &lt;&lt; spiral(length=100.0)</a:t>
            </a:r>
          </a:p>
          <a:p>
            <a:pPr algn="just"/>
            <a:r>
              <a:rPr lang="en-US" sz="1000" dirty="0">
                <a:latin typeface="Arial" panose="020B0604020202020204" pitchFamily="34" charset="0"/>
                <a:cs typeface="Arial" panose="020B0604020202020204" pitchFamily="34" charset="0"/>
              </a:rPr>
              <a:t>heater_2 = chip &lt;&lt; spiral(length=500.0)</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 --- FLOORPLANNING: AUTO-ALINEACIÓN MATEMÁTICA ---</a:t>
            </a:r>
          </a:p>
          <a:p>
            <a:pPr algn="just"/>
            <a:r>
              <a:rPr lang="en-US" sz="1000" dirty="0">
                <a:latin typeface="Arial" panose="020B0604020202020204" pitchFamily="34" charset="0"/>
                <a:cs typeface="Arial" panose="020B0604020202020204" pitchFamily="34" charset="0"/>
              </a:rPr>
              <a:t>print("</a:t>
            </a:r>
            <a:r>
              <a:rPr lang="en-US" sz="1000" dirty="0" err="1">
                <a:latin typeface="Arial" panose="020B0604020202020204" pitchFamily="34" charset="0"/>
                <a:cs typeface="Arial" panose="020B0604020202020204" pitchFamily="34" charset="0"/>
              </a:rPr>
              <a:t>Alineando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componentes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perfectamente</a:t>
            </a:r>
            <a:r>
              <a:rPr lang="en-US" sz="1000" dirty="0">
                <a:latin typeface="Arial" panose="020B0604020202020204" pitchFamily="34" charset="0"/>
                <a:cs typeface="Arial" panose="020B0604020202020204" pitchFamily="34" charset="0"/>
              </a:rPr>
              <a:t> con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puertos</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1739180-D8CF-F9BE-8249-A1C31CB49825}"/>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1C52070-E67C-BD81-8EBC-D382418904E3}"/>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sp>
        <p:nvSpPr>
          <p:cNvPr id="7" name="CuadroTexto 6">
            <a:extLst>
              <a:ext uri="{FF2B5EF4-FFF2-40B4-BE49-F238E27FC236}">
                <a16:creationId xmlns:a16="http://schemas.microsoft.com/office/drawing/2014/main" id="{6062DB94-7D33-6B22-8EDD-566E28180B0D}"/>
              </a:ext>
            </a:extLst>
          </p:cNvPr>
          <p:cNvSpPr txBox="1"/>
          <p:nvPr/>
        </p:nvSpPr>
        <p:spPr>
          <a:xfrm>
            <a:off x="6239530" y="1012168"/>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s-ES" sz="1000">
                <a:latin typeface="Arial" panose="020B0604020202020204" pitchFamily="34" charset="0"/>
                <a:cs typeface="Arial" panose="020B0604020202020204" pitchFamily="34" charset="0"/>
              </a:rPr>
              <a:t># 1. Centramos todos horizontalmente (En el medio del chip, X=2500)</a:t>
            </a:r>
          </a:p>
          <a:p>
            <a:pPr algn="just"/>
            <a:r>
              <a:rPr lang="es-ES" sz="1000">
                <a:latin typeface="Arial" panose="020B0604020202020204" pitchFamily="34" charset="0"/>
                <a:cs typeface="Arial" panose="020B0604020202020204" pitchFamily="34" charset="0"/>
              </a:rPr>
              <a:t>centro_x = ANCHO_X / 2</a:t>
            </a:r>
          </a:p>
          <a:p>
            <a:pPr algn="just"/>
            <a:r>
              <a:rPr lang="es-ES" sz="1000">
                <a:latin typeface="Arial" panose="020B0604020202020204" pitchFamily="34" charset="0"/>
                <a:cs typeface="Arial" panose="020B0604020202020204" pitchFamily="34" charset="0"/>
              </a:rPr>
              <a:t>mmi_1.dmovex(centro_x - mmi_1.x)</a:t>
            </a:r>
          </a:p>
          <a:p>
            <a:pPr algn="just"/>
            <a:r>
              <a:rPr lang="es-ES" sz="1000">
                <a:latin typeface="Arial" panose="020B0604020202020204" pitchFamily="34" charset="0"/>
                <a:cs typeface="Arial" panose="020B0604020202020204" pitchFamily="34" charset="0"/>
              </a:rPr>
              <a:t>mmi_2.dmovex(centro_x - mmi_2.x)</a:t>
            </a:r>
          </a:p>
          <a:p>
            <a:pPr algn="just"/>
            <a:r>
              <a:rPr lang="es-ES" sz="1000">
                <a:latin typeface="Arial" panose="020B0604020202020204" pitchFamily="34" charset="0"/>
                <a:cs typeface="Arial" panose="020B0604020202020204" pitchFamily="34" charset="0"/>
              </a:rPr>
              <a:t>ring_1.dmovex(centro_x - ring_1.x)</a:t>
            </a:r>
          </a:p>
          <a:p>
            <a:pPr algn="just"/>
            <a:r>
              <a:rPr lang="es-ES" sz="1000">
                <a:latin typeface="Arial" panose="020B0604020202020204" pitchFamily="34" charset="0"/>
                <a:cs typeface="Arial" panose="020B0604020202020204" pitchFamily="34" charset="0"/>
              </a:rPr>
              <a:t>ring_2.dmovex(centro_x - ring_2.x)</a:t>
            </a:r>
          </a:p>
          <a:p>
            <a:pPr algn="just"/>
            <a:r>
              <a:rPr lang="es-ES" sz="1000">
                <a:latin typeface="Arial" panose="020B0604020202020204" pitchFamily="34" charset="0"/>
                <a:cs typeface="Arial" panose="020B0604020202020204" pitchFamily="34" charset="0"/>
              </a:rPr>
              <a:t>heater_1.dmovex(centro_x - heater_1.x)</a:t>
            </a:r>
          </a:p>
          <a:p>
            <a:pPr algn="just"/>
            <a:r>
              <a:rPr lang="es-ES" sz="1000">
                <a:latin typeface="Arial" panose="020B0604020202020204" pitchFamily="34" charset="0"/>
                <a:cs typeface="Arial" panose="020B0604020202020204" pitchFamily="34" charset="0"/>
              </a:rPr>
              <a:t>heater_2.dmovex(centro_x - heater_2.x)</a:t>
            </a:r>
          </a:p>
          <a:p>
            <a:pPr algn="just"/>
            <a:endParaRPr lang="es-ES" sz="1000">
              <a:latin typeface="Arial" panose="020B0604020202020204" pitchFamily="34" charset="0"/>
              <a:cs typeface="Arial" panose="020B0604020202020204" pitchFamily="34" charset="0"/>
            </a:endParaRPr>
          </a:p>
          <a:p>
            <a:pPr algn="just"/>
            <a:r>
              <a:rPr lang="es-ES" sz="1000">
                <a:latin typeface="Arial" panose="020B0604020202020204" pitchFamily="34" charset="0"/>
                <a:cs typeface="Arial" panose="020B0604020202020204" pitchFamily="34" charset="0"/>
              </a:rPr>
              <a:t># 2. Alineación Vertical Exacta (Eje Y)</a:t>
            </a:r>
          </a:p>
          <a:p>
            <a:pPr algn="just"/>
            <a:r>
              <a:rPr lang="es-ES" sz="1000">
                <a:latin typeface="Arial" panose="020B0604020202020204" pitchFamily="34" charset="0"/>
                <a:cs typeface="Arial" panose="020B0604020202020204" pitchFamily="34" charset="0"/>
              </a:rPr>
              <a:t># Para los Anillos: Su puerto de entrada estará a la ALTURA EXACTA del puerto del chip</a:t>
            </a:r>
          </a:p>
          <a:p>
            <a:pPr algn="just"/>
            <a:r>
              <a:rPr lang="es-ES" sz="1000">
                <a:latin typeface="Arial" panose="020B0604020202020204" pitchFamily="34" charset="0"/>
                <a:cs typeface="Arial" panose="020B0604020202020204" pitchFamily="34" charset="0"/>
              </a:rPr>
              <a:t>ring_1.dmovey(die_ref.ports['A13'].y - ring_1.ports['in0'].y)</a:t>
            </a:r>
          </a:p>
          <a:p>
            <a:pPr algn="just"/>
            <a:r>
              <a:rPr lang="es-ES" sz="1000">
                <a:latin typeface="Arial" panose="020B0604020202020204" pitchFamily="34" charset="0"/>
                <a:cs typeface="Arial" panose="020B0604020202020204" pitchFamily="34" charset="0"/>
              </a:rPr>
              <a:t>ring_2.dmovey(die_ref.ports['A15'].y - ring_2.ports['in0'].y)</a:t>
            </a:r>
          </a:p>
          <a:p>
            <a:pPr algn="just"/>
            <a:endParaRPr lang="es-ES" sz="1000">
              <a:latin typeface="Arial" panose="020B0604020202020204" pitchFamily="34" charset="0"/>
              <a:cs typeface="Arial" panose="020B0604020202020204" pitchFamily="34" charset="0"/>
            </a:endParaRPr>
          </a:p>
          <a:p>
            <a:pPr algn="just"/>
            <a:r>
              <a:rPr lang="es-ES" sz="1000">
                <a:latin typeface="Arial" panose="020B0604020202020204" pitchFamily="34" charset="0"/>
                <a:cs typeface="Arial" panose="020B0604020202020204" pitchFamily="34" charset="0"/>
              </a:rPr>
              <a:t># Para los Calentadores: Igual, entrada alineada exactamente con la salida</a:t>
            </a:r>
          </a:p>
          <a:p>
            <a:pPr algn="just"/>
            <a:r>
              <a:rPr lang="es-ES" sz="1000">
                <a:latin typeface="Arial" panose="020B0604020202020204" pitchFamily="34" charset="0"/>
                <a:cs typeface="Arial" panose="020B0604020202020204" pitchFamily="34" charset="0"/>
              </a:rPr>
              <a:t>heater_1.dmovey(die_ref.ports['A24'].y - heater_1.ports['o1'].y)</a:t>
            </a:r>
          </a:p>
          <a:p>
            <a:pPr algn="just"/>
            <a:r>
              <a:rPr lang="es-ES" sz="1000">
                <a:latin typeface="Arial" panose="020B0604020202020204" pitchFamily="34" charset="0"/>
                <a:cs typeface="Arial" panose="020B0604020202020204" pitchFamily="34" charset="0"/>
              </a:rPr>
              <a:t>heater_2.dmovey(die_ref.ports['A26'].y - heater_2.ports['o2'].y)</a:t>
            </a:r>
          </a:p>
          <a:p>
            <a:pPr algn="just"/>
            <a:endParaRPr lang="es-ES" sz="1000">
              <a:latin typeface="Arial" panose="020B0604020202020204" pitchFamily="34" charset="0"/>
              <a:cs typeface="Arial" panose="020B0604020202020204" pitchFamily="34" charset="0"/>
            </a:endParaRPr>
          </a:p>
          <a:p>
            <a:pPr algn="just"/>
            <a:r>
              <a:rPr lang="es-ES" sz="1000">
                <a:latin typeface="Arial" panose="020B0604020202020204" pitchFamily="34" charset="0"/>
                <a:cs typeface="Arial" panose="020B0604020202020204" pitchFamily="34" charset="0"/>
              </a:rPr>
              <a:t># Para los MMI: Como tienen 2 puertos muy pegados (separados por 4um) y los puertos </a:t>
            </a:r>
          </a:p>
          <a:p>
            <a:pPr algn="just"/>
            <a:r>
              <a:rPr lang="es-ES" sz="1000">
                <a:latin typeface="Arial" panose="020B0604020202020204" pitchFamily="34" charset="0"/>
                <a:cs typeface="Arial" panose="020B0604020202020204" pitchFamily="34" charset="0"/>
              </a:rPr>
              <a:t># del chip están separados por 250um, los centramos matemáticamente entre ambos puertos.</a:t>
            </a:r>
          </a:p>
          <a:p>
            <a:pPr algn="just"/>
            <a:r>
              <a:rPr lang="es-ES" sz="1000">
                <a:latin typeface="Arial" panose="020B0604020202020204" pitchFamily="34" charset="0"/>
                <a:cs typeface="Arial" panose="020B0604020202020204" pitchFamily="34" charset="0"/>
              </a:rPr>
              <a:t>centro_puertos_A6_A7 = (die_ref.ports['A6'].y + die_ref.ports['A7'].y) / 2</a:t>
            </a:r>
          </a:p>
          <a:p>
            <a:pPr algn="just"/>
            <a:r>
              <a:rPr lang="es-ES" sz="1000">
                <a:latin typeface="Arial" panose="020B0604020202020204" pitchFamily="34" charset="0"/>
                <a:cs typeface="Arial" panose="020B0604020202020204" pitchFamily="34" charset="0"/>
              </a:rPr>
              <a:t>centro_mmi_1 = (mmi_1.ports['o1'].y + mmi_1.ports['o2'].y) / 2</a:t>
            </a:r>
          </a:p>
          <a:p>
            <a:pPr algn="just"/>
            <a:r>
              <a:rPr lang="es-ES" sz="1000">
                <a:latin typeface="Arial" panose="020B0604020202020204" pitchFamily="34" charset="0"/>
                <a:cs typeface="Arial" panose="020B0604020202020204" pitchFamily="34" charset="0"/>
              </a:rPr>
              <a:t>mmi_1.dmovey(centro_puertos_A6_A7 - centro_mmi_1)</a:t>
            </a:r>
          </a:p>
          <a:p>
            <a:pPr algn="just"/>
            <a:endParaRPr lang="es-ES" sz="1000">
              <a:latin typeface="Arial" panose="020B0604020202020204" pitchFamily="34" charset="0"/>
              <a:cs typeface="Arial" panose="020B0604020202020204" pitchFamily="34" charset="0"/>
            </a:endParaRPr>
          </a:p>
          <a:p>
            <a:pPr algn="just"/>
            <a:r>
              <a:rPr lang="es-ES" sz="1000">
                <a:latin typeface="Arial" panose="020B0604020202020204" pitchFamily="34" charset="0"/>
                <a:cs typeface="Arial" panose="020B0604020202020204" pitchFamily="34" charset="0"/>
              </a:rPr>
              <a:t>centro_puertos_A9_A10 = (die_ref.ports['A9'].y + die_ref.ports['A10'].y) / 2</a:t>
            </a:r>
          </a:p>
          <a:p>
            <a:pPr algn="just"/>
            <a:r>
              <a:rPr lang="es-ES" sz="1000">
                <a:latin typeface="Arial" panose="020B0604020202020204" pitchFamily="34" charset="0"/>
                <a:cs typeface="Arial" panose="020B0604020202020204" pitchFamily="34" charset="0"/>
              </a:rPr>
              <a:t>centro_mmi_2 = (mmi_2.ports['o1'].y + mmi_2.ports['o2'].y) / 2</a:t>
            </a:r>
          </a:p>
          <a:p>
            <a:pPr algn="just"/>
            <a:r>
              <a:rPr lang="es-ES" sz="1000">
                <a:latin typeface="Arial" panose="020B0604020202020204" pitchFamily="34" charset="0"/>
                <a:cs typeface="Arial" panose="020B0604020202020204" pitchFamily="34" charset="0"/>
              </a:rPr>
              <a:t>mmi_2.dmovey(centro_puertos_A9_A10 - centro_mmi_2)</a:t>
            </a:r>
          </a:p>
          <a:p>
            <a:pPr algn="just"/>
            <a:endParaRPr lang="es-ES" sz="1000">
              <a:latin typeface="Arial" panose="020B0604020202020204" pitchFamily="34" charset="0"/>
              <a:cs typeface="Arial" panose="020B0604020202020204" pitchFamily="34" charset="0"/>
            </a:endParaRPr>
          </a:p>
          <a:p>
            <a:pPr algn="just"/>
            <a:endParaRPr lang="es-ES" sz="1000">
              <a:latin typeface="Arial" panose="020B0604020202020204" pitchFamily="34" charset="0"/>
              <a:cs typeface="Arial" panose="020B0604020202020204" pitchFamily="34" charset="0"/>
            </a:endParaRPr>
          </a:p>
          <a:p>
            <a:pPr algn="just"/>
            <a:r>
              <a:rPr lang="es-ES" sz="1000">
                <a:latin typeface="Arial" panose="020B0604020202020204" pitchFamily="34" charset="0"/>
                <a:cs typeface="Arial" panose="020B0604020202020204" pitchFamily="34" charset="0"/>
              </a:rPr>
              <a:t>print("Enrutando puertos...")</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842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2B36-E44C-9E33-DFEA-4969E8C8DF3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B90C042-6467-6AC3-F037-AF7AD8B8864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98414492-83E4-208E-D354-7975A741C5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4E7FBF4-82BF-05D9-7D0D-B975F83AE288}"/>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Marcador de pie de página 2">
            <a:extLst>
              <a:ext uri="{FF2B5EF4-FFF2-40B4-BE49-F238E27FC236}">
                <a16:creationId xmlns:a16="http://schemas.microsoft.com/office/drawing/2014/main" id="{2A3DE5BE-42D4-3E5F-2636-9B18DA88EBA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15DD4A23-DBC6-F902-7A55-BDB406A95C50}"/>
              </a:ext>
            </a:extLst>
          </p:cNvPr>
          <p:cNvSpPr txBox="1"/>
          <p:nvPr/>
        </p:nvSpPr>
        <p:spPr>
          <a:xfrm>
            <a:off x="25400" y="1040942"/>
            <a:ext cx="76200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000">
                <a:latin typeface="Arial" panose="020B0604020202020204" pitchFamily="34" charset="0"/>
                <a:cs typeface="Arial" panose="020B0604020202020204" pitchFamily="34" charset="0"/>
              </a:rPr>
              <a:t># MMI 1</a:t>
            </a:r>
          </a:p>
          <a:p>
            <a:pPr algn="just"/>
            <a:r>
              <a:rPr lang="en-US" sz="1000">
                <a:latin typeface="Arial" panose="020B0604020202020204" pitchFamily="34" charset="0"/>
                <a:cs typeface="Arial" panose="020B0604020202020204" pitchFamily="34" charset="0"/>
              </a:rPr>
              <a:t>gf.routing.route_single(chip, port1=mmi_1.ports['o1'], port2=die_ref.ports['A6'], cross_section=xs_io,allow_width_mismatch=True)</a:t>
            </a:r>
          </a:p>
          <a:p>
            <a:pPr algn="just"/>
            <a:r>
              <a:rPr lang="en-US" sz="1000">
                <a:latin typeface="Arial" panose="020B0604020202020204" pitchFamily="34" charset="0"/>
                <a:cs typeface="Arial" panose="020B0604020202020204" pitchFamily="34" charset="0"/>
              </a:rPr>
              <a:t>gf.routing.route_single(chip, port1=mmi_1.ports['o2'], port2=die_ref.ports['A7'], cross_section=xs_io, allow_width_mismatch=True)</a:t>
            </a:r>
          </a:p>
          <a:p>
            <a:pPr algn="just"/>
            <a:r>
              <a:rPr lang="en-US" sz="1000">
                <a:latin typeface="Arial" panose="020B0604020202020204" pitchFamily="34" charset="0"/>
                <a:cs typeface="Arial" panose="020B0604020202020204" pitchFamily="34" charset="0"/>
              </a:rPr>
              <a:t>gf.routing.route_single(chip, port1=mmi_1.ports['o4'], port2=die_ref.ports['B6'], cross_section=xs_io, allow_width_mismatch=True)</a:t>
            </a:r>
          </a:p>
          <a:p>
            <a:pPr algn="just"/>
            <a:r>
              <a:rPr lang="en-US" sz="1000">
                <a:latin typeface="Arial" panose="020B0604020202020204" pitchFamily="34" charset="0"/>
                <a:cs typeface="Arial" panose="020B0604020202020204" pitchFamily="34" charset="0"/>
              </a:rPr>
              <a:t>gf.routing.route_single(chip, port1=mmi_1.ports['o3'], port2=die_ref.ports['B7'], cross_section=xs_io,allow_width_mismatch=True)</a:t>
            </a:r>
          </a:p>
          <a:p>
            <a:pPr algn="just"/>
            <a:endParaRPr lang="en-US" sz="1000">
              <a:latin typeface="Arial" panose="020B0604020202020204" pitchFamily="34" charset="0"/>
              <a:cs typeface="Arial" panose="020B0604020202020204" pitchFamily="34" charset="0"/>
            </a:endParaRPr>
          </a:p>
          <a:p>
            <a:pPr algn="just"/>
            <a:r>
              <a:rPr lang="en-US" sz="1000">
                <a:latin typeface="Arial" panose="020B0604020202020204" pitchFamily="34" charset="0"/>
                <a:cs typeface="Arial" panose="020B0604020202020204" pitchFamily="34" charset="0"/>
              </a:rPr>
              <a:t># MMI 2</a:t>
            </a:r>
          </a:p>
          <a:p>
            <a:pPr algn="just"/>
            <a:r>
              <a:rPr lang="en-US" sz="1000">
                <a:latin typeface="Arial" panose="020B0604020202020204" pitchFamily="34" charset="0"/>
                <a:cs typeface="Arial" panose="020B0604020202020204" pitchFamily="34" charset="0"/>
              </a:rPr>
              <a:t>gf.routing.route_single(chip, port1=mmi_2.ports['o1'], port2=die_ref.ports['A9'], cross_section=xs_io,allow_width_mismatch=True)</a:t>
            </a:r>
          </a:p>
          <a:p>
            <a:pPr algn="just"/>
            <a:r>
              <a:rPr lang="en-US" sz="1000">
                <a:latin typeface="Arial" panose="020B0604020202020204" pitchFamily="34" charset="0"/>
                <a:cs typeface="Arial" panose="020B0604020202020204" pitchFamily="34" charset="0"/>
              </a:rPr>
              <a:t>gf.routing.route_single(chip, port1=mmi_2.ports['o2'], port2=die_ref.ports['A10'], cross_section=xs_io,allow_width_mismatch=True)</a:t>
            </a:r>
          </a:p>
          <a:p>
            <a:pPr algn="just"/>
            <a:r>
              <a:rPr lang="en-US" sz="1000">
                <a:latin typeface="Arial" panose="020B0604020202020204" pitchFamily="34" charset="0"/>
                <a:cs typeface="Arial" panose="020B0604020202020204" pitchFamily="34" charset="0"/>
              </a:rPr>
              <a:t>gf.routing.route_single(chip, port1=mmi_2.ports['o4'], port2=die_ref.ports['B9'], cross_section=xs_io,allow_width_mismatch=True)</a:t>
            </a:r>
          </a:p>
          <a:p>
            <a:pPr algn="just"/>
            <a:r>
              <a:rPr lang="en-US" sz="1000">
                <a:latin typeface="Arial" panose="020B0604020202020204" pitchFamily="34" charset="0"/>
                <a:cs typeface="Arial" panose="020B0604020202020204" pitchFamily="34" charset="0"/>
              </a:rPr>
              <a:t>gf.routing.route_single(chip, port1=mmi_2.ports['o3'], port2=die_ref.ports['B10'], cross_section=xs_io,allow_width_mismatch=True)</a:t>
            </a:r>
          </a:p>
          <a:p>
            <a:pPr algn="just"/>
            <a:endParaRPr lang="en-US" sz="1000">
              <a:latin typeface="Arial" panose="020B0604020202020204" pitchFamily="34" charset="0"/>
              <a:cs typeface="Arial" panose="020B0604020202020204" pitchFamily="34" charset="0"/>
            </a:endParaRPr>
          </a:p>
          <a:p>
            <a:pPr algn="just"/>
            <a:r>
              <a:rPr lang="en-US" sz="1000">
                <a:latin typeface="Arial" panose="020B0604020202020204" pitchFamily="34" charset="0"/>
                <a:cs typeface="Arial" panose="020B0604020202020204" pitchFamily="34" charset="0"/>
              </a:rPr>
              <a:t># RING 1 y 2</a:t>
            </a:r>
          </a:p>
          <a:p>
            <a:pPr algn="just"/>
            <a:r>
              <a:rPr lang="en-US" sz="1000">
                <a:latin typeface="Arial" panose="020B0604020202020204" pitchFamily="34" charset="0"/>
                <a:cs typeface="Arial" panose="020B0604020202020204" pitchFamily="34" charset="0"/>
              </a:rPr>
              <a:t>gf.routing.route_single(chip, port1=ring_1.ports['in0'], port2=die_ref.ports['A13'], cross_section=xs_io,allow_width_mismatch=True)</a:t>
            </a:r>
          </a:p>
          <a:p>
            <a:pPr algn="just"/>
            <a:r>
              <a:rPr lang="en-US" sz="1000">
                <a:latin typeface="Arial" panose="020B0604020202020204" pitchFamily="34" charset="0"/>
                <a:cs typeface="Arial" panose="020B0604020202020204" pitchFamily="34" charset="0"/>
              </a:rPr>
              <a:t>gf.routing.route_single(chip, port1=ring_1.ports['out0'], port2=die_ref.ports['B13'], cross_section=xs_io,allow_width_mismatch=True)</a:t>
            </a:r>
          </a:p>
          <a:p>
            <a:pPr algn="just"/>
            <a:endParaRPr lang="en-US" sz="1000">
              <a:latin typeface="Arial" panose="020B0604020202020204" pitchFamily="34" charset="0"/>
              <a:cs typeface="Arial" panose="020B0604020202020204" pitchFamily="34" charset="0"/>
            </a:endParaRPr>
          </a:p>
          <a:p>
            <a:pPr algn="just"/>
            <a:r>
              <a:rPr lang="en-US" sz="1000">
                <a:latin typeface="Arial" panose="020B0604020202020204" pitchFamily="34" charset="0"/>
                <a:cs typeface="Arial" panose="020B0604020202020204" pitchFamily="34" charset="0"/>
              </a:rPr>
              <a:t>gf.routing.route_single(chip, port1=ring_2.ports['in0'], port2=die_ref.ports['A15'], cross_section=xs_io,allow_width_mismatch=True)</a:t>
            </a:r>
          </a:p>
          <a:p>
            <a:pPr algn="just"/>
            <a:r>
              <a:rPr lang="en-US" sz="1000">
                <a:latin typeface="Arial" panose="020B0604020202020204" pitchFamily="34" charset="0"/>
                <a:cs typeface="Arial" panose="020B0604020202020204" pitchFamily="34" charset="0"/>
              </a:rPr>
              <a:t>gf.routing.route_single(chip, port1=ring_2.ports['out0'], port2=die_ref.ports['B15'], cross_section=xs_io,allow_width_mismatch=True)</a:t>
            </a:r>
          </a:p>
          <a:p>
            <a:pPr algn="just"/>
            <a:endParaRPr lang="en-US" sz="1000">
              <a:latin typeface="Arial" panose="020B0604020202020204" pitchFamily="34" charset="0"/>
              <a:cs typeface="Arial" panose="020B0604020202020204" pitchFamily="34" charset="0"/>
            </a:endParaRPr>
          </a:p>
          <a:p>
            <a:pPr algn="just"/>
            <a:endParaRPr lang="en-US" sz="1000">
              <a:latin typeface="Arial" panose="020B0604020202020204" pitchFamily="34" charset="0"/>
              <a:cs typeface="Arial" panose="020B0604020202020204" pitchFamily="34" charset="0"/>
            </a:endParaRPr>
          </a:p>
          <a:p>
            <a:pPr algn="just"/>
            <a:r>
              <a:rPr lang="en-US" sz="1000">
                <a:latin typeface="Arial" panose="020B0604020202020204" pitchFamily="34" charset="0"/>
                <a:cs typeface="Arial" panose="020B0604020202020204" pitchFamily="34" charset="0"/>
              </a:rPr>
              <a:t>gf.routing.route_single(chip, port1=heater_1.ports['o1'], port2=die_ref.ports['A24'], cross_section=xs_io,allow_width_mismatch=True)</a:t>
            </a:r>
          </a:p>
          <a:p>
            <a:pPr algn="just"/>
            <a:r>
              <a:rPr lang="en-US" sz="1000">
                <a:latin typeface="Arial" panose="020B0604020202020204" pitchFamily="34" charset="0"/>
                <a:cs typeface="Arial" panose="020B0604020202020204" pitchFamily="34" charset="0"/>
              </a:rPr>
              <a:t>gf.routing.route_single(chip, port1=heater_1.ports['o2'], port2=die_ref.ports['B24'], cross_section=xs_io,allow_width_mismatch=True)</a:t>
            </a:r>
          </a:p>
          <a:p>
            <a:pPr algn="just"/>
            <a:endParaRPr lang="en-US" sz="1000">
              <a:latin typeface="Arial" panose="020B0604020202020204" pitchFamily="34" charset="0"/>
              <a:cs typeface="Arial" panose="020B0604020202020204" pitchFamily="34" charset="0"/>
            </a:endParaRPr>
          </a:p>
          <a:p>
            <a:pPr algn="just"/>
            <a:endParaRPr lang="en-US" sz="1000">
              <a:latin typeface="Arial" panose="020B0604020202020204" pitchFamily="34" charset="0"/>
              <a:cs typeface="Arial" panose="020B0604020202020204" pitchFamily="34" charset="0"/>
            </a:endParaRPr>
          </a:p>
          <a:p>
            <a:pPr algn="just"/>
            <a:r>
              <a:rPr lang="en-US" sz="1000">
                <a:latin typeface="Arial" panose="020B0604020202020204" pitchFamily="34" charset="0"/>
                <a:cs typeface="Arial" panose="020B0604020202020204" pitchFamily="34" charset="0"/>
              </a:rPr>
              <a:t>gf.routing.route_single(chip, port1=heater_2.ports['o1'], port2=die_ref.ports['A26'], cross_section=xs_io,allow_width_mismatch=True)</a:t>
            </a:r>
          </a:p>
          <a:p>
            <a:pPr algn="just"/>
            <a:r>
              <a:rPr lang="en-US" sz="1000">
                <a:latin typeface="Arial" panose="020B0604020202020204" pitchFamily="34" charset="0"/>
                <a:cs typeface="Arial" panose="020B0604020202020204" pitchFamily="34" charset="0"/>
              </a:rPr>
              <a:t>gf.routing.route_single(chip, port1=heater_2.ports['o2'], port2=die_ref.ports['B26'], cross_section=xs_io,allow_width_mismatch=True)</a:t>
            </a:r>
          </a:p>
          <a:p>
            <a:pPr algn="just"/>
            <a:endParaRPr lang="en-US" sz="1000">
              <a:latin typeface="Arial" panose="020B0604020202020204" pitchFamily="34" charset="0"/>
              <a:cs typeface="Arial" panose="020B0604020202020204" pitchFamily="34" charset="0"/>
            </a:endParaRPr>
          </a:p>
          <a:p>
            <a:pPr algn="just"/>
            <a:r>
              <a:rPr lang="en-US" sz="1000">
                <a:latin typeface="Arial" panose="020B0604020202020204" pitchFamily="34" charset="0"/>
                <a:cs typeface="Arial" panose="020B0604020202020204" pitchFamily="34" charset="0"/>
              </a:rPr>
              <a:t>print("¡Floorplanning completado sin cruces!")</a:t>
            </a:r>
          </a:p>
          <a:p>
            <a:pPr algn="just"/>
            <a:r>
              <a:rPr lang="en-US" sz="1000">
                <a:latin typeface="Arial" panose="020B0604020202020204" pitchFamily="34" charset="0"/>
                <a:cs typeface="Arial" panose="020B0604020202020204" pitchFamily="34" charset="0"/>
              </a:rPr>
              <a:t>chip.plot()</a:t>
            </a:r>
            <a:endParaRPr lang="en-US" sz="10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8B2F9016-4CB1-24CC-1834-421D711D3A33}"/>
              </a:ext>
            </a:extLst>
          </p:cNvPr>
          <p:cNvSpPr/>
          <p:nvPr/>
        </p:nvSpPr>
        <p:spPr>
          <a:xfrm>
            <a:off x="7772400" y="1107700"/>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n 11">
            <a:extLst>
              <a:ext uri="{FF2B5EF4-FFF2-40B4-BE49-F238E27FC236}">
                <a16:creationId xmlns:a16="http://schemas.microsoft.com/office/drawing/2014/main" id="{4AF4CF02-3FF3-96BE-57F5-03E3AEFA5DF7}"/>
              </a:ext>
            </a:extLst>
          </p:cNvPr>
          <p:cNvPicPr>
            <a:picLocks noChangeAspect="1"/>
          </p:cNvPicPr>
          <p:nvPr/>
        </p:nvPicPr>
        <p:blipFill>
          <a:blip r:embed="rId4"/>
          <a:stretch>
            <a:fillRect/>
          </a:stretch>
        </p:blipFill>
        <p:spPr>
          <a:xfrm>
            <a:off x="7896490" y="1297992"/>
            <a:ext cx="4275190" cy="4801016"/>
          </a:xfrm>
          <a:prstGeom prst="rect">
            <a:avLst/>
          </a:prstGeom>
        </p:spPr>
      </p:pic>
    </p:spTree>
    <p:extLst>
      <p:ext uri="{BB962C8B-B14F-4D97-AF65-F5344CB8AC3E}">
        <p14:creationId xmlns:p14="http://schemas.microsoft.com/office/powerpoint/2010/main" val="200771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929</TotalTime>
  <Words>5945</Words>
  <Application>Microsoft Office PowerPoint</Application>
  <PresentationFormat>Panorámica</PresentationFormat>
  <Paragraphs>540</Paragraphs>
  <Slides>28</Slides>
  <Notes>24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28</vt:i4>
      </vt:variant>
    </vt:vector>
  </HeadingPairs>
  <TitlesOfParts>
    <vt:vector size="34"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1 slide per component “Use your design results from Lab2 and Lab3 to create layout instances of your designed components: DCs, MMIs, MZIs &amp; Ring Resonators”</vt:lpstr>
      <vt:lpstr>Learning outcome #2a – Notebook section 2. Layout Fundamentals “Once that we have a working 'new' component, we shall convert it into a Cell. This will allow us to have a hierarchical design”</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#3 – Notebook section 3. Complete layout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Presentación de PowerPoint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Learning outcome #4 – Notebook section 4. Exercises – 1 slide per bullet 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Ferran Guiñón Tatay</cp:lastModifiedBy>
  <cp:revision>31</cp:revision>
  <dcterms:created xsi:type="dcterms:W3CDTF">2025-01-27T02:46:57Z</dcterms:created>
  <dcterms:modified xsi:type="dcterms:W3CDTF">2026-06-12T12:04:07Z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